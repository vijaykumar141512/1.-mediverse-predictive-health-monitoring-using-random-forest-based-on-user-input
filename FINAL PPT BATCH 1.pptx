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2"/>
  </p:notesMasterIdLst>
  <p:sldIdLst>
    <p:sldId id="278" r:id="rId2"/>
    <p:sldId id="257" r:id="rId3"/>
    <p:sldId id="281" r:id="rId4"/>
    <p:sldId id="282" r:id="rId5"/>
    <p:sldId id="271" r:id="rId6"/>
    <p:sldId id="273" r:id="rId7"/>
    <p:sldId id="279" r:id="rId8"/>
    <p:sldId id="274" r:id="rId9"/>
    <p:sldId id="280" r:id="rId10"/>
    <p:sldId id="275" r:id="rId11"/>
    <p:sldId id="272" r:id="rId12"/>
    <p:sldId id="284" r:id="rId13"/>
    <p:sldId id="283" r:id="rId14"/>
    <p:sldId id="292" r:id="rId15"/>
    <p:sldId id="293" r:id="rId16"/>
    <p:sldId id="285" r:id="rId17"/>
    <p:sldId id="294" r:id="rId18"/>
    <p:sldId id="291" r:id="rId19"/>
    <p:sldId id="286" r:id="rId20"/>
    <p:sldId id="287" r:id="rId21"/>
    <p:sldId id="288" r:id="rId22"/>
    <p:sldId id="289"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9" r:id="rId37"/>
    <p:sldId id="310" r:id="rId38"/>
    <p:sldId id="311" r:id="rId39"/>
    <p:sldId id="312" r:id="rId40"/>
    <p:sldId id="269"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D31D74B-DFAF-43D7-B230-05C6B82E10A5}">
          <p14:sldIdLst/>
        </p14:section>
        <p14:section name="Untitled Section" id="{DA1F6F81-80E4-4293-B8BE-302B1D88552F}">
          <p14:sldIdLst>
            <p14:sldId id="278"/>
            <p14:sldId id="257"/>
            <p14:sldId id="281"/>
            <p14:sldId id="282"/>
            <p14:sldId id="271"/>
            <p14:sldId id="273"/>
            <p14:sldId id="279"/>
            <p14:sldId id="274"/>
            <p14:sldId id="280"/>
          </p14:sldIdLst>
        </p14:section>
        <p14:section name="Untitled Section" id="{75FEEAE8-5262-449D-A583-2B8E863D133D}">
          <p14:sldIdLst>
            <p14:sldId id="275"/>
            <p14:sldId id="272"/>
            <p14:sldId id="284"/>
            <p14:sldId id="283"/>
            <p14:sldId id="292"/>
            <p14:sldId id="293"/>
            <p14:sldId id="285"/>
            <p14:sldId id="294"/>
            <p14:sldId id="291"/>
            <p14:sldId id="286"/>
            <p14:sldId id="287"/>
            <p14:sldId id="288"/>
            <p14:sldId id="289"/>
            <p14:sldId id="295"/>
            <p14:sldId id="296"/>
            <p14:sldId id="297"/>
            <p14:sldId id="298"/>
            <p14:sldId id="299"/>
            <p14:sldId id="300"/>
            <p14:sldId id="301"/>
            <p14:sldId id="302"/>
            <p14:sldId id="303"/>
            <p14:sldId id="304"/>
            <p14:sldId id="305"/>
            <p14:sldId id="306"/>
            <p14:sldId id="307"/>
            <p14:sldId id="309"/>
            <p14:sldId id="310"/>
            <p14:sldId id="311"/>
            <p14:sldId id="312"/>
            <p14:sldId id="2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FC6"/>
    <a:srgbClr val="EBE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94" autoAdjust="0"/>
    <p:restoredTop sz="66119" autoAdjust="0"/>
  </p:normalViewPr>
  <p:slideViewPr>
    <p:cSldViewPr snapToGrid="0">
      <p:cViewPr varScale="1">
        <p:scale>
          <a:sx n="85" d="100"/>
          <a:sy n="85" d="100"/>
        </p:scale>
        <p:origin x="754" y="53"/>
      </p:cViewPr>
      <p:guideLst/>
    </p:cSldViewPr>
  </p:slideViewPr>
  <p:outlineViewPr>
    <p:cViewPr>
      <p:scale>
        <a:sx n="33" d="100"/>
        <a:sy n="33" d="100"/>
      </p:scale>
      <p:origin x="0" y="-8448"/>
    </p:cViewPr>
  </p:outlineViewPr>
  <p:notesTextViewPr>
    <p:cViewPr>
      <p:scale>
        <a:sx n="1" d="1"/>
        <a:sy n="1" d="1"/>
      </p:scale>
      <p:origin x="0" y="0"/>
    </p:cViewPr>
  </p:notesTextViewPr>
  <p:notesViewPr>
    <p:cSldViewPr snapToGrid="0">
      <p:cViewPr varScale="1">
        <p:scale>
          <a:sx n="123" d="100"/>
          <a:sy n="123" d="100"/>
        </p:scale>
        <p:origin x="412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DFD1E6-9E2C-405D-8464-530077EA07AB}"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DEB89-C5B4-48D9-B19B-8684562DB74B}" type="slidenum">
              <a:rPr lang="en-US" smtClean="0"/>
              <a:t>‹#›</a:t>
            </a:fld>
            <a:endParaRPr lang="en-US"/>
          </a:p>
        </p:txBody>
      </p:sp>
    </p:spTree>
    <p:extLst>
      <p:ext uri="{BB962C8B-B14F-4D97-AF65-F5344CB8AC3E}">
        <p14:creationId xmlns:p14="http://schemas.microsoft.com/office/powerpoint/2010/main" val="1327505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B9DEB89-C5B4-48D9-B19B-8684562DB74B}" type="slidenum">
              <a:rPr lang="en-US" smtClean="0"/>
              <a:t>2</a:t>
            </a:fld>
            <a:endParaRPr lang="en-US"/>
          </a:p>
        </p:txBody>
      </p:sp>
    </p:spTree>
    <p:extLst>
      <p:ext uri="{BB962C8B-B14F-4D97-AF65-F5344CB8AC3E}">
        <p14:creationId xmlns:p14="http://schemas.microsoft.com/office/powerpoint/2010/main" val="1428717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9DEB89-C5B4-48D9-B19B-8684562DB74B}" type="slidenum">
              <a:rPr lang="en-US" smtClean="0"/>
              <a:t>5</a:t>
            </a:fld>
            <a:endParaRPr lang="en-US"/>
          </a:p>
        </p:txBody>
      </p:sp>
    </p:spTree>
    <p:extLst>
      <p:ext uri="{BB962C8B-B14F-4D97-AF65-F5344CB8AC3E}">
        <p14:creationId xmlns:p14="http://schemas.microsoft.com/office/powerpoint/2010/main" val="955555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Are there any questions, comments or concerns?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All data was provided by the Google Analytics Professional Certification, and I’m using the most recent 12 months of data that was provided. </a:t>
            </a:r>
          </a:p>
          <a:p>
            <a:pPr marL="171450" indent="-171450">
              <a:buFont typeface="Arial" panose="020B0604020202020204" pitchFamily="34" charset="0"/>
              <a:buChar char="•"/>
            </a:pPr>
            <a:r>
              <a:rPr lang="en-US" dirty="0"/>
              <a:t>I used Excel to clean, organize and sort all the data that was available</a:t>
            </a:r>
          </a:p>
          <a:p>
            <a:pPr marL="171450" indent="-171450">
              <a:buFont typeface="Arial" panose="020B0604020202020204" pitchFamily="34" charset="0"/>
              <a:buChar char="•"/>
            </a:pPr>
            <a:r>
              <a:rPr lang="en-US" dirty="0"/>
              <a:t>I also used Excel to create the visual.</a:t>
            </a:r>
          </a:p>
        </p:txBody>
      </p:sp>
      <p:sp>
        <p:nvSpPr>
          <p:cNvPr id="4" name="Slide Number Placeholder 3"/>
          <p:cNvSpPr>
            <a:spLocks noGrp="1"/>
          </p:cNvSpPr>
          <p:nvPr>
            <p:ph type="sldNum" sz="quarter" idx="5"/>
          </p:nvPr>
        </p:nvSpPr>
        <p:spPr/>
        <p:txBody>
          <a:bodyPr/>
          <a:lstStyle/>
          <a:p>
            <a:fld id="{8B9DEB89-C5B4-48D9-B19B-8684562DB74B}" type="slidenum">
              <a:rPr lang="en-US" smtClean="0"/>
              <a:t>40</a:t>
            </a:fld>
            <a:endParaRPr lang="en-US"/>
          </a:p>
        </p:txBody>
      </p:sp>
    </p:spTree>
    <p:extLst>
      <p:ext uri="{BB962C8B-B14F-4D97-AF65-F5344CB8AC3E}">
        <p14:creationId xmlns:p14="http://schemas.microsoft.com/office/powerpoint/2010/main" val="13989918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EF53B87-A7EB-4F03-BA48-1F7967F9A031}" type="datetimeFigureOut">
              <a:rPr lang="en-US" smtClean="0"/>
              <a:t>3/31/2026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18640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F53B87-A7EB-4F03-BA48-1F7967F9A031}"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4053007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5EF53B87-A7EB-4F03-BA48-1F7967F9A031}" type="datetimeFigureOut">
              <a:rPr lang="en-US" smtClean="0"/>
              <a:t>3/31/2026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2364463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F53B87-A7EB-4F03-BA48-1F7967F9A031}"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184777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F53B87-A7EB-4F03-BA48-1F7967F9A031}"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170734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F53B87-A7EB-4F03-BA48-1F7967F9A031}"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253773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53B87-A7EB-4F03-BA48-1F7967F9A031}"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960792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F53B87-A7EB-4F03-BA48-1F7967F9A031}"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2915895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F53B87-A7EB-4F03-BA48-1F7967F9A031}"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2488022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F53B87-A7EB-4F03-BA48-1F7967F9A031}"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244188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EF53B87-A7EB-4F03-BA48-1F7967F9A031}" type="datetimeFigureOut">
              <a:rPr lang="en-US" smtClean="0"/>
              <a:t>3/31/2026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4106559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EF53B87-A7EB-4F03-BA48-1F7967F9A031}" type="datetimeFigureOut">
              <a:rPr lang="en-US" smtClean="0"/>
              <a:t>3/31/2026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01264E77-33FA-4A7D-BECE-14D5A8191E51}"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41279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EF53B87-A7EB-4F03-BA48-1F7967F9A031}" type="datetimeFigureOut">
              <a:rPr lang="en-US" smtClean="0"/>
              <a:t>3/31/2026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25537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EF53B87-A7EB-4F03-BA48-1F7967F9A031}"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28122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EF53B87-A7EB-4F03-BA48-1F7967F9A031}"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1383488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F53B87-A7EB-4F03-BA48-1F7967F9A031}"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1567688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5EF53B87-A7EB-4F03-BA48-1F7967F9A031}" type="datetimeFigureOut">
              <a:rPr lang="en-US" smtClean="0"/>
              <a:t>3/31/2026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01264E77-33FA-4A7D-BECE-14D5A8191E51}" type="slidenum">
              <a:rPr lang="en-US" smtClean="0"/>
              <a:t>‹#›</a:t>
            </a:fld>
            <a:endParaRPr lang="en-US"/>
          </a:p>
        </p:txBody>
      </p:sp>
    </p:spTree>
    <p:extLst>
      <p:ext uri="{BB962C8B-B14F-4D97-AF65-F5344CB8AC3E}">
        <p14:creationId xmlns:p14="http://schemas.microsoft.com/office/powerpoint/2010/main" val="3964530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EF53B87-A7EB-4F03-BA48-1F7967F9A031}" type="datetimeFigureOut">
              <a:rPr lang="en-US" smtClean="0"/>
              <a:t>3/31/2026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1264E77-33FA-4A7D-BECE-14D5A8191E51}" type="slidenum">
              <a:rPr lang="en-US" smtClean="0"/>
              <a:t>‹#›</a:t>
            </a:fld>
            <a:endParaRPr lang="en-US"/>
          </a:p>
        </p:txBody>
      </p:sp>
    </p:spTree>
    <p:extLst>
      <p:ext uri="{BB962C8B-B14F-4D97-AF65-F5344CB8AC3E}">
        <p14:creationId xmlns:p14="http://schemas.microsoft.com/office/powerpoint/2010/main" val="291115038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F270-B551-EBC7-107A-11BAF2E209D7}"/>
              </a:ext>
            </a:extLst>
          </p:cNvPr>
          <p:cNvSpPr>
            <a:spLocks noGrp="1"/>
          </p:cNvSpPr>
          <p:nvPr>
            <p:ph type="title"/>
          </p:nvPr>
        </p:nvSpPr>
        <p:spPr/>
        <p:txBody>
          <a:bodyPr/>
          <a:lstStyle/>
          <a:p>
            <a:r>
              <a:rPr lang="en-US" dirty="0"/>
              <a:t> </a:t>
            </a:r>
            <a:endParaRPr lang="en-IN" dirty="0"/>
          </a:p>
        </p:txBody>
      </p:sp>
      <p:sp>
        <p:nvSpPr>
          <p:cNvPr id="9" name="Text Placeholder 8">
            <a:extLst>
              <a:ext uri="{FF2B5EF4-FFF2-40B4-BE49-F238E27FC236}">
                <a16:creationId xmlns:a16="http://schemas.microsoft.com/office/drawing/2014/main" id="{CBC84CF7-9C51-BB92-7CB7-000D6B690959}"/>
              </a:ext>
            </a:extLst>
          </p:cNvPr>
          <p:cNvSpPr>
            <a:spLocks noGrp="1"/>
          </p:cNvSpPr>
          <p:nvPr>
            <p:ph idx="1"/>
          </p:nvPr>
        </p:nvSpPr>
        <p:spPr>
          <a:xfrm>
            <a:off x="293595" y="2602085"/>
            <a:ext cx="11604812" cy="3874082"/>
          </a:xfrm>
        </p:spPr>
        <p:txBody>
          <a:bodyPr>
            <a:normAutofit/>
          </a:bodyPr>
          <a:lstStyle/>
          <a:p>
            <a:pPr marL="0" indent="0" algn="ctr">
              <a:lnSpc>
                <a:spcPct val="107000"/>
              </a:lnSpc>
              <a:spcAft>
                <a:spcPts val="800"/>
              </a:spcAft>
              <a:buNone/>
            </a:pPr>
            <a:endParaRPr lang="en-IN" sz="800" dirty="0">
              <a:solidFill>
                <a:schemeClr val="accent2"/>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ctr">
              <a:lnSpc>
                <a:spcPct val="100000"/>
              </a:lnSpc>
              <a:spcAft>
                <a:spcPts val="800"/>
              </a:spcAft>
              <a:buNone/>
            </a:pPr>
            <a:r>
              <a:rPr lang="en-US" sz="3000" b="1" dirty="0">
                <a:solidFill>
                  <a:schemeClr val="accent2"/>
                </a:solidFill>
                <a:latin typeface="Times New Roman" panose="02020603050405020304" pitchFamily="18" charset="0"/>
                <a:cs typeface="Times New Roman" panose="02020603050405020304" pitchFamily="18" charset="0"/>
              </a:rPr>
              <a:t>MEDIVERSE PREDICTIVE HEALTH MONITORING USING</a:t>
            </a:r>
          </a:p>
          <a:p>
            <a:pPr marL="0" indent="0" algn="ctr">
              <a:lnSpc>
                <a:spcPct val="100000"/>
              </a:lnSpc>
              <a:spcAft>
                <a:spcPts val="800"/>
              </a:spcAft>
              <a:buNone/>
            </a:pPr>
            <a:r>
              <a:rPr lang="en-US" sz="3000" b="1" dirty="0">
                <a:solidFill>
                  <a:schemeClr val="accent2"/>
                </a:solidFill>
                <a:latin typeface="Times New Roman" panose="02020603050405020304" pitchFamily="18" charset="0"/>
                <a:cs typeface="Times New Roman" panose="02020603050405020304" pitchFamily="18" charset="0"/>
              </a:rPr>
              <a:t>	  RANDOM FOREST BASED ON USER INPUT</a:t>
            </a:r>
            <a:r>
              <a:rPr lang="en-GB" sz="1400" b="1" dirty="0">
                <a:latin typeface="Times New Roman" panose="02020603050405020304"/>
                <a:cs typeface="Times New Roman" panose="02020603050405020304"/>
              </a:rPr>
              <a:t>		</a:t>
            </a: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1800" dirty="0">
              <a:latin typeface="Times New Roman" panose="02020603050405020304"/>
              <a:cs typeface="Times New Roman" panose="02020603050405020304"/>
            </a:endParaRPr>
          </a:p>
        </p:txBody>
      </p:sp>
      <p:sp>
        <p:nvSpPr>
          <p:cNvPr id="4" name="TextBox 3">
            <a:extLst>
              <a:ext uri="{FF2B5EF4-FFF2-40B4-BE49-F238E27FC236}">
                <a16:creationId xmlns:a16="http://schemas.microsoft.com/office/drawing/2014/main" id="{017DE194-B0ED-4D27-8F3F-AD738C32BC59}"/>
              </a:ext>
            </a:extLst>
          </p:cNvPr>
          <p:cNvSpPr txBox="1"/>
          <p:nvPr/>
        </p:nvSpPr>
        <p:spPr>
          <a:xfrm>
            <a:off x="6243917" y="4666274"/>
            <a:ext cx="5522259" cy="144655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Under the Esteemed Guidance of</a:t>
            </a:r>
            <a:endParaRPr lang="en-IN" sz="2400" b="1" dirty="0">
              <a:latin typeface="Times New Roman" panose="02020603050405020304" pitchFamily="18" charset="0"/>
              <a:cs typeface="Times New Roman" panose="02020603050405020304" pitchFamily="18" charset="0"/>
            </a:endParaRPr>
          </a:p>
          <a:p>
            <a:pPr algn="ctr"/>
            <a:r>
              <a:rPr lang="en-IN" sz="2000" b="1" dirty="0">
                <a:latin typeface="Times New Roman" panose="02020603050405020304" pitchFamily="18" charset="0"/>
                <a:cs typeface="Times New Roman" panose="02020603050405020304" pitchFamily="18" charset="0"/>
              </a:rPr>
              <a:t>Dr. C.VENKATA SUBBAIAH, </a:t>
            </a:r>
            <a:r>
              <a:rPr lang="en-IN" sz="1200" b="1" baseline="-25000" dirty="0">
                <a:latin typeface="Times New Roman" panose="02020603050405020304" pitchFamily="18" charset="0"/>
                <a:cs typeface="Times New Roman" panose="02020603050405020304" pitchFamily="18" charset="0"/>
              </a:rPr>
              <a:t>M.Tech., Ph.D.,</a:t>
            </a:r>
            <a:endParaRPr lang="en-IN" sz="2000" b="1"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rPr>
              <a:t>Associate Professor,</a:t>
            </a:r>
          </a:p>
          <a:p>
            <a:pPr algn="ctr"/>
            <a:r>
              <a:rPr lang="en-IN" sz="2000" dirty="0">
                <a:latin typeface="Times New Roman" panose="02020603050405020304" pitchFamily="18" charset="0"/>
                <a:cs typeface="Times New Roman" panose="02020603050405020304" pitchFamily="18" charset="0"/>
              </a:rPr>
              <a:t>Head of the Department</a:t>
            </a:r>
          </a:p>
        </p:txBody>
      </p:sp>
      <p:graphicFrame>
        <p:nvGraphicFramePr>
          <p:cNvPr id="10" name="Table 9">
            <a:extLst>
              <a:ext uri="{FF2B5EF4-FFF2-40B4-BE49-F238E27FC236}">
                <a16:creationId xmlns:a16="http://schemas.microsoft.com/office/drawing/2014/main" id="{5C62782D-15A8-48D5-8219-45DA04092182}"/>
              </a:ext>
            </a:extLst>
          </p:cNvPr>
          <p:cNvGraphicFramePr>
            <a:graphicFrameLocks noGrp="1"/>
          </p:cNvGraphicFramePr>
          <p:nvPr>
            <p:extLst>
              <p:ext uri="{D42A27DB-BD31-4B8C-83A1-F6EECF244321}">
                <p14:modId xmlns:p14="http://schemas.microsoft.com/office/powerpoint/2010/main" val="1680897048"/>
              </p:ext>
            </p:extLst>
          </p:nvPr>
        </p:nvGraphicFramePr>
        <p:xfrm>
          <a:off x="425824" y="5117011"/>
          <a:ext cx="4745619" cy="1387445"/>
        </p:xfrm>
        <a:graphic>
          <a:graphicData uri="http://schemas.openxmlformats.org/drawingml/2006/table">
            <a:tbl>
              <a:tblPr firstRow="1" firstCol="1" bandRow="1">
                <a:tableStyleId>{2D5ABB26-0587-4C30-8999-92F81FD0307C}</a:tableStyleId>
              </a:tblPr>
              <a:tblGrid>
                <a:gridCol w="3048939">
                  <a:extLst>
                    <a:ext uri="{9D8B030D-6E8A-4147-A177-3AD203B41FA5}">
                      <a16:colId xmlns:a16="http://schemas.microsoft.com/office/drawing/2014/main" val="3095832414"/>
                    </a:ext>
                  </a:extLst>
                </a:gridCol>
                <a:gridCol w="1696680">
                  <a:extLst>
                    <a:ext uri="{9D8B030D-6E8A-4147-A177-3AD203B41FA5}">
                      <a16:colId xmlns:a16="http://schemas.microsoft.com/office/drawing/2014/main" val="1705231323"/>
                    </a:ext>
                  </a:extLst>
                </a:gridCol>
              </a:tblGrid>
              <a:tr h="277489">
                <a:tc>
                  <a:txBody>
                    <a:bodyPr/>
                    <a:lstStyle/>
                    <a:p>
                      <a:r>
                        <a:rPr lang="en-GB" sz="1800" dirty="0">
                          <a:effectLst/>
                          <a:latin typeface="Times New Roman" panose="02020603050405020304" pitchFamily="18" charset="0"/>
                          <a:cs typeface="Times New Roman" panose="02020603050405020304" pitchFamily="18" charset="0"/>
                        </a:rPr>
                        <a:t>K. VIJAY KUMAR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GB" sz="1800" dirty="0">
                          <a:effectLst/>
                          <a:latin typeface="Times New Roman" panose="02020603050405020304" pitchFamily="18" charset="0"/>
                          <a:cs typeface="Times New Roman" panose="02020603050405020304" pitchFamily="18" charset="0"/>
                        </a:rPr>
                        <a:t>23HM5A0509</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18156425"/>
                  </a:ext>
                </a:extLst>
              </a:tr>
              <a:tr h="277489">
                <a:tc>
                  <a:txBody>
                    <a:bodyPr/>
                    <a:lstStyle/>
                    <a:p>
                      <a:r>
                        <a:rPr lang="en-GB" sz="1800">
                          <a:effectLst/>
                          <a:latin typeface="Times New Roman" panose="02020603050405020304" pitchFamily="18" charset="0"/>
                          <a:cs typeface="Times New Roman" panose="02020603050405020304" pitchFamily="18" charset="0"/>
                        </a:rPr>
                        <a:t>G. </a:t>
                      </a:r>
                      <a:r>
                        <a:rPr lang="en-IN" sz="1800">
                          <a:effectLst/>
                          <a:latin typeface="Times New Roman" panose="02020603050405020304" pitchFamily="18" charset="0"/>
                          <a:cs typeface="Times New Roman" panose="02020603050405020304" pitchFamily="18" charset="0"/>
                        </a:rPr>
                        <a:t>GAYATHRI PRIYANKA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a:effectLst/>
                          <a:latin typeface="Times New Roman" panose="02020603050405020304" pitchFamily="18" charset="0"/>
                          <a:cs typeface="Times New Roman" panose="02020603050405020304" pitchFamily="18" charset="0"/>
                        </a:rPr>
                        <a:t>22HM1A0534</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5850133"/>
                  </a:ext>
                </a:extLst>
              </a:tr>
              <a:tr h="277489">
                <a:tc>
                  <a:txBody>
                    <a:bodyPr/>
                    <a:lstStyle/>
                    <a:p>
                      <a:r>
                        <a:rPr lang="en-IN" sz="1800">
                          <a:effectLst/>
                          <a:latin typeface="Times New Roman" panose="02020603050405020304" pitchFamily="18" charset="0"/>
                          <a:cs typeface="Times New Roman" panose="02020603050405020304" pitchFamily="18" charset="0"/>
                        </a:rPr>
                        <a:t>A. SUMANTH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dirty="0">
                          <a:effectLst/>
                          <a:latin typeface="Times New Roman" panose="02020603050405020304" pitchFamily="18" charset="0"/>
                          <a:cs typeface="Times New Roman" panose="02020603050405020304" pitchFamily="18" charset="0"/>
                        </a:rPr>
                        <a:t>22HM1A0503</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00420742"/>
                  </a:ext>
                </a:extLst>
              </a:tr>
              <a:tr h="277489">
                <a:tc>
                  <a:txBody>
                    <a:bodyPr/>
                    <a:lstStyle/>
                    <a:p>
                      <a:r>
                        <a:rPr lang="en-IN" sz="1800">
                          <a:effectLst/>
                          <a:latin typeface="Times New Roman" panose="02020603050405020304" pitchFamily="18" charset="0"/>
                          <a:cs typeface="Times New Roman" panose="02020603050405020304" pitchFamily="18" charset="0"/>
                        </a:rPr>
                        <a:t>C. YUGANDHAR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a:effectLst/>
                          <a:latin typeface="Times New Roman" panose="02020603050405020304" pitchFamily="18" charset="0"/>
                          <a:cs typeface="Times New Roman" panose="02020603050405020304" pitchFamily="18" charset="0"/>
                        </a:rPr>
                        <a:t>22HM1A0522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64679913"/>
                  </a:ext>
                </a:extLst>
              </a:tr>
              <a:tr h="277489">
                <a:tc>
                  <a:txBody>
                    <a:bodyPr/>
                    <a:lstStyle/>
                    <a:p>
                      <a:r>
                        <a:rPr lang="en-IN" sz="1800">
                          <a:effectLst/>
                          <a:latin typeface="Times New Roman" panose="02020603050405020304" pitchFamily="18" charset="0"/>
                          <a:cs typeface="Times New Roman" panose="02020603050405020304" pitchFamily="18" charset="0"/>
                        </a:rPr>
                        <a:t>B. HARI KRISHNA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dirty="0">
                          <a:effectLst/>
                          <a:latin typeface="Times New Roman" panose="02020603050405020304" pitchFamily="18" charset="0"/>
                          <a:cs typeface="Times New Roman" panose="02020603050405020304" pitchFamily="18" charset="0"/>
                        </a:rPr>
                        <a:t>23HM5A0502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0970831"/>
                  </a:ext>
                </a:extLst>
              </a:tr>
            </a:tbl>
          </a:graphicData>
        </a:graphic>
      </p:graphicFrame>
      <p:sp>
        <p:nvSpPr>
          <p:cNvPr id="12" name="TextBox 11">
            <a:extLst>
              <a:ext uri="{FF2B5EF4-FFF2-40B4-BE49-F238E27FC236}">
                <a16:creationId xmlns:a16="http://schemas.microsoft.com/office/drawing/2014/main" id="{62AD8837-741C-4DFA-BF9B-62FF8569DCC8}"/>
              </a:ext>
            </a:extLst>
          </p:cNvPr>
          <p:cNvSpPr txBox="1"/>
          <p:nvPr/>
        </p:nvSpPr>
        <p:spPr>
          <a:xfrm flipH="1">
            <a:off x="1209863" y="4487461"/>
            <a:ext cx="3177540" cy="657838"/>
          </a:xfrm>
          <a:prstGeom prst="rect">
            <a:avLst/>
          </a:prstGeom>
          <a:solidFill>
            <a:schemeClr val="bg1"/>
          </a:solidFill>
        </p:spPr>
        <p:txBody>
          <a:bodyPr wrap="square" rtlCol="0">
            <a:spAutoFit/>
          </a:bodyPr>
          <a:lstStyle/>
          <a:p>
            <a:pPr algn="ctr"/>
            <a:r>
              <a:rPr lang="en-IN" sz="1800" b="1" dirty="0">
                <a:latin typeface="Times New Roman" panose="02020603050405020304" pitchFamily="18" charset="0"/>
                <a:cs typeface="Times New Roman" panose="02020603050405020304" pitchFamily="18" charset="0"/>
              </a:rPr>
              <a:t>SUBMITTED BY</a:t>
            </a:r>
          </a:p>
          <a:p>
            <a:pPr algn="ctr"/>
            <a:endParaRPr lang="en-IN" dirty="0"/>
          </a:p>
        </p:txBody>
      </p:sp>
      <p:pic>
        <p:nvPicPr>
          <p:cNvPr id="5" name="Picture 4">
            <a:extLst>
              <a:ext uri="{FF2B5EF4-FFF2-40B4-BE49-F238E27FC236}">
                <a16:creationId xmlns:a16="http://schemas.microsoft.com/office/drawing/2014/main" id="{BF3EA26E-F7DD-441C-89A6-AAB74D73D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594" y="1229790"/>
            <a:ext cx="11604812" cy="1493045"/>
          </a:xfrm>
          <a:prstGeom prst="rect">
            <a:avLst/>
          </a:prstGeom>
        </p:spPr>
      </p:pic>
    </p:spTree>
    <p:extLst>
      <p:ext uri="{BB962C8B-B14F-4D97-AF65-F5344CB8AC3E}">
        <p14:creationId xmlns:p14="http://schemas.microsoft.com/office/powerpoint/2010/main" val="3456255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B1298-54EB-31F7-CF8D-5D9D584AC3B5}"/>
              </a:ext>
            </a:extLst>
          </p:cNvPr>
          <p:cNvSpPr>
            <a:spLocks noGrp="1"/>
          </p:cNvSpPr>
          <p:nvPr>
            <p:ph type="title"/>
          </p:nvPr>
        </p:nvSpPr>
        <p:spPr>
          <a:xfrm>
            <a:off x="2895600" y="764372"/>
            <a:ext cx="8610600" cy="1602309"/>
          </a:xfrm>
        </p:spPr>
        <p:txBody>
          <a:bodyPr>
            <a:normAutofit/>
          </a:bodyPr>
          <a:lstStyle/>
          <a:p>
            <a:pPr algn="l"/>
            <a:r>
              <a:rPr lang="en-US" sz="3600" b="1" dirty="0">
                <a:latin typeface="Times New Roman" panose="02020603050405020304" pitchFamily="18" charset="0"/>
                <a:cs typeface="Times New Roman" panose="02020603050405020304" pitchFamily="18" charset="0"/>
              </a:rPr>
              <a:t>		CONTENTS</a:t>
            </a:r>
          </a:p>
        </p:txBody>
      </p:sp>
      <p:sp>
        <p:nvSpPr>
          <p:cNvPr id="7" name="Content Placeholder 6">
            <a:extLst>
              <a:ext uri="{FF2B5EF4-FFF2-40B4-BE49-F238E27FC236}">
                <a16:creationId xmlns:a16="http://schemas.microsoft.com/office/drawing/2014/main" id="{A1E0CBAA-FA81-FC80-A4EF-933B5878954A}"/>
              </a:ext>
            </a:extLst>
          </p:cNvPr>
          <p:cNvSpPr>
            <a:spLocks noGrp="1"/>
          </p:cNvSpPr>
          <p:nvPr>
            <p:ph idx="1"/>
          </p:nvPr>
        </p:nvSpPr>
        <p:spPr>
          <a:xfrm>
            <a:off x="640080" y="1991359"/>
            <a:ext cx="11076791" cy="4540069"/>
          </a:xfrm>
        </p:spPr>
        <p:txBody>
          <a:bodyPr numCol="2">
            <a:noAutofit/>
          </a:bodyPr>
          <a:lstStyle/>
          <a:p>
            <a:pPr algn="just">
              <a:lnSpc>
                <a:spcPct val="10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a:t>
            </a:r>
          </a:p>
          <a:p>
            <a:pPr algn="just">
              <a:lnSpc>
                <a:spcPct val="10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ABSTRACT</a:t>
            </a:r>
          </a:p>
          <a:p>
            <a:pPr algn="just">
              <a:lnSpc>
                <a:spcPct val="10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INTRODUCTION</a:t>
            </a:r>
          </a:p>
          <a:p>
            <a:pPr algn="just">
              <a:lnSpc>
                <a:spcPct val="10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EXISTING SYSTEM </a:t>
            </a:r>
          </a:p>
          <a:p>
            <a:pPr algn="just">
              <a:lnSpc>
                <a:spcPct val="100000"/>
              </a:lnSpc>
              <a:buFont typeface="Wingdings" panose="05000000000000000000" pitchFamily="2" charset="2"/>
              <a:buChar char="Ø"/>
            </a:pPr>
            <a:r>
              <a:rPr lang="en-US" sz="2000" b="1" dirty="0">
                <a:effectLst/>
                <a:latin typeface="Times New Roman" panose="02020603050405020304" pitchFamily="18" charset="0"/>
                <a:ea typeface="Times New Roman" panose="02020603050405020304" pitchFamily="18" charset="0"/>
              </a:rPr>
              <a:t>DISADVANTAGES OF EXISTING SYSTEM</a:t>
            </a:r>
          </a:p>
          <a:p>
            <a:pPr algn="just">
              <a:lnSpc>
                <a:spcPct val="10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PROPOSED SYSTEM </a:t>
            </a:r>
          </a:p>
          <a:p>
            <a:pPr algn="just">
              <a:lnSpc>
                <a:spcPct val="100000"/>
              </a:lnSpc>
              <a:buFont typeface="Wingdings" panose="05000000000000000000" pitchFamily="2" charset="2"/>
              <a:buChar char="Ø"/>
            </a:pPr>
            <a:r>
              <a:rPr lang="en-US" sz="2000" b="1" dirty="0">
                <a:solidFill>
                  <a:srgbClr val="1F2A44"/>
                </a:solidFill>
                <a:latin typeface="Times New Roman" panose="02020603050405020304" pitchFamily="18" charset="0"/>
                <a:ea typeface="Source Serif 4 Semi Bold" pitchFamily="34" charset="-122"/>
                <a:cs typeface="Times New Roman" panose="02020603050405020304" pitchFamily="18" charset="0"/>
              </a:rPr>
              <a:t>ADVANTAGES OF PROPOSED SYSTEM</a:t>
            </a:r>
          </a:p>
          <a:p>
            <a:pPr algn="just">
              <a:lnSpc>
                <a:spcPct val="100000"/>
              </a:lnSpc>
              <a:buFont typeface="Wingdings" panose="05000000000000000000" pitchFamily="2" charset="2"/>
              <a:buChar char="Ø"/>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SYSTEM REQUIREMENTS</a:t>
            </a:r>
          </a:p>
          <a:p>
            <a:pPr algn="just">
              <a:lnSpc>
                <a:spcPct val="100000"/>
              </a:lnSpc>
              <a:buFont typeface="Wingdings" panose="05000000000000000000" pitchFamily="2" charset="2"/>
              <a:buChar char="Ø"/>
            </a:pPr>
            <a:r>
              <a:rPr lang="en-IN" sz="2000" b="1" dirty="0">
                <a:latin typeface="Times New Roman" panose="02020603050405020304" pitchFamily="18" charset="0"/>
                <a:ea typeface="Calibri" panose="020F0502020204030204" pitchFamily="34" charset="0"/>
                <a:cs typeface="Times New Roman" panose="02020603050405020304" pitchFamily="18" charset="0"/>
              </a:rPr>
              <a:t>ARCHITECTURE</a:t>
            </a:r>
          </a:p>
          <a:p>
            <a:pPr algn="just">
              <a:lnSpc>
                <a:spcPct val="100000"/>
              </a:lnSpc>
              <a:buFont typeface="Wingdings" panose="05000000000000000000" pitchFamily="2" charset="2"/>
              <a:buChar char="Ø"/>
            </a:pPr>
            <a:r>
              <a:rPr lang="en-IN" sz="2000" b="1" dirty="0">
                <a:latin typeface="Times New Roman" panose="02020603050405020304" pitchFamily="18" charset="0"/>
                <a:ea typeface="Calibri" panose="020F0502020204030204" pitchFamily="34" charset="0"/>
                <a:cs typeface="Times New Roman" panose="02020603050405020304" pitchFamily="18" charset="0"/>
              </a:rPr>
              <a:t>ALGORITHMS</a:t>
            </a:r>
          </a:p>
          <a:p>
            <a:pPr lvl="1" algn="just">
              <a:lnSpc>
                <a:spcPct val="100000"/>
              </a:lnSpc>
              <a:buFont typeface="Wingdings" panose="05000000000000000000" pitchFamily="2" charset="2"/>
              <a:buChar char="Ø"/>
            </a:pPr>
            <a:r>
              <a:rPr lang="en-IN" b="1" dirty="0">
                <a:latin typeface="Times New Roman" panose="02020603050405020304" pitchFamily="18" charset="0"/>
                <a:ea typeface="Calibri" panose="020F0502020204030204" pitchFamily="34" charset="0"/>
                <a:cs typeface="Times New Roman" panose="02020603050405020304" pitchFamily="18" charset="0"/>
              </a:rPr>
              <a:t>MODULES</a:t>
            </a:r>
          </a:p>
          <a:p>
            <a:pPr lvl="1" algn="just">
              <a:lnSpc>
                <a:spcPct val="100000"/>
              </a:lnSpc>
              <a:buFont typeface="Wingdings" panose="05000000000000000000" pitchFamily="2" charset="2"/>
              <a:buChar char="Ø"/>
            </a:pPr>
            <a:r>
              <a:rPr lang="en-IN" b="1" dirty="0">
                <a:latin typeface="Times New Roman" panose="02020603050405020304" pitchFamily="18" charset="0"/>
                <a:ea typeface="Calibri" panose="020F0502020204030204" pitchFamily="34" charset="0"/>
                <a:cs typeface="Times New Roman" panose="02020603050405020304" pitchFamily="18" charset="0"/>
              </a:rPr>
              <a:t>UML DIAGRAMS</a:t>
            </a:r>
          </a:p>
          <a:p>
            <a:pPr lvl="1"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TESTING PLAN</a:t>
            </a:r>
          </a:p>
          <a:p>
            <a:pPr lvl="1"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SCREENSHOTS</a:t>
            </a:r>
          </a:p>
          <a:p>
            <a:pPr lvl="1" algn="just">
              <a:lnSpc>
                <a:spcPct val="1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CONCLUSION</a:t>
            </a:r>
          </a:p>
          <a:p>
            <a:pPr lvl="1"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FUTURE ENHANCEMENT</a:t>
            </a:r>
          </a:p>
          <a:p>
            <a:pPr lvl="1"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REFERENCES</a:t>
            </a:r>
          </a:p>
          <a:p>
            <a:pPr marL="0" indent="0" algn="just">
              <a:lnSpc>
                <a:spcPct val="100000"/>
              </a:lnSpc>
              <a:buNone/>
            </a:pP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buFont typeface="Wingdings" panose="05000000000000000000" pitchFamily="2" charset="2"/>
              <a:buChar char="Ø"/>
            </a:pP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41678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46FF3-1321-52D2-39E2-30DA22C8E502}"/>
              </a:ext>
            </a:extLst>
          </p:cNvPr>
          <p:cNvSpPr>
            <a:spLocks noGrp="1"/>
          </p:cNvSpPr>
          <p:nvPr>
            <p:ph type="title"/>
          </p:nvPr>
        </p:nvSpPr>
        <p:spPr>
          <a:xfrm>
            <a:off x="179294" y="764373"/>
            <a:ext cx="11761694" cy="1293028"/>
          </a:xfrm>
        </p:spPr>
        <p:txBody>
          <a:bodyPr>
            <a:normAutofit/>
          </a:bodyPr>
          <a:lstStyle/>
          <a:p>
            <a:pPr algn="ctr"/>
            <a:r>
              <a:rPr lang="en-IN" sz="3600" b="1" dirty="0">
                <a:latin typeface="Times New Roman" panose="02020603050405020304" pitchFamily="18" charset="0"/>
                <a:cs typeface="Times New Roman" panose="02020603050405020304" pitchFamily="18" charset="0"/>
              </a:rPr>
              <a:t>		Objective</a:t>
            </a:r>
          </a:p>
        </p:txBody>
      </p:sp>
      <p:sp>
        <p:nvSpPr>
          <p:cNvPr id="3" name="Content Placeholder 2">
            <a:extLst>
              <a:ext uri="{FF2B5EF4-FFF2-40B4-BE49-F238E27FC236}">
                <a16:creationId xmlns:a16="http://schemas.microsoft.com/office/drawing/2014/main" id="{D91BC593-9647-40BB-3ED3-2E03977F37D6}"/>
              </a:ext>
            </a:extLst>
          </p:cNvPr>
          <p:cNvSpPr>
            <a:spLocks noGrp="1"/>
          </p:cNvSpPr>
          <p:nvPr>
            <p:ph idx="1"/>
          </p:nvPr>
        </p:nvSpPr>
        <p:spPr>
          <a:xfrm>
            <a:off x="685800" y="2788025"/>
            <a:ext cx="10820400" cy="1398494"/>
          </a:xfrm>
        </p:spPr>
        <p:txBody>
          <a:bodyPr>
            <a:noAutofit/>
          </a:bodyPr>
          <a:lstStyle/>
          <a:p>
            <a:pPr marL="0" indent="0" algn="just">
              <a:buNone/>
            </a:pPr>
            <a:r>
              <a:rPr lang="en-US" sz="2800" dirty="0">
                <a:effectLst/>
                <a:latin typeface="Times New Roman" panose="02020603050405020304" pitchFamily="18" charset="0"/>
                <a:ea typeface="Times New Roman" panose="02020603050405020304" pitchFamily="18" charset="0"/>
              </a:rPr>
              <a:t>	To develop a predictive health monitoring system using machine learning (Random Forest) that analyzes user health inputs and predicts health status as Good, Medium, or Risk.</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763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F004-89AE-4B1A-8EBC-CB1297C94322}"/>
              </a:ext>
            </a:extLst>
          </p:cNvPr>
          <p:cNvSpPr>
            <a:spLocks noGrp="1"/>
          </p:cNvSpPr>
          <p:nvPr>
            <p:ph type="title"/>
          </p:nvPr>
        </p:nvSpPr>
        <p:spPr>
          <a:xfrm>
            <a:off x="147919" y="764373"/>
            <a:ext cx="11900646" cy="1293028"/>
          </a:xfrm>
        </p:spPr>
        <p:txBody>
          <a:bodyPr>
            <a:normAutofit/>
          </a:bodyPr>
          <a:lstStyle/>
          <a:p>
            <a:pPr algn="ctr"/>
            <a:r>
              <a:rPr lang="en-IN" sz="3200" b="1" dirty="0">
                <a:latin typeface="Times New Roman" panose="02020603050405020304" pitchFamily="18" charset="0"/>
                <a:cs typeface="Times New Roman" panose="02020603050405020304" pitchFamily="18" charset="0"/>
              </a:rPr>
              <a:t>	abstract</a:t>
            </a:r>
            <a:endParaRPr lang="en-IN" sz="3200" dirty="0"/>
          </a:p>
        </p:txBody>
      </p:sp>
      <p:sp>
        <p:nvSpPr>
          <p:cNvPr id="3" name="Content Placeholder 2">
            <a:extLst>
              <a:ext uri="{FF2B5EF4-FFF2-40B4-BE49-F238E27FC236}">
                <a16:creationId xmlns:a16="http://schemas.microsoft.com/office/drawing/2014/main" id="{3E0E0911-EAB7-40E7-A52D-7130FC9D45B1}"/>
              </a:ext>
            </a:extLst>
          </p:cNvPr>
          <p:cNvSpPr>
            <a:spLocks noGrp="1"/>
          </p:cNvSpPr>
          <p:nvPr>
            <p:ph idx="1"/>
          </p:nvPr>
        </p:nvSpPr>
        <p:spPr>
          <a:xfrm>
            <a:off x="277907" y="2214282"/>
            <a:ext cx="11358281" cy="3879344"/>
          </a:xfrm>
        </p:spPr>
        <p:txBody>
          <a:bodyPr>
            <a:noAutofit/>
          </a:bodyPr>
          <a:lstStyle/>
          <a:p>
            <a:pPr marL="0" indent="0" algn="just">
              <a:buNone/>
            </a:pPr>
            <a:r>
              <a:rPr lang="en-US" sz="2800" dirty="0">
                <a:latin typeface="Times New Roman" panose="02020603050405020304" pitchFamily="18" charset="0"/>
                <a:cs typeface="Times New Roman" panose="02020603050405020304" pitchFamily="18" charset="0"/>
              </a:rPr>
              <a:t>	Mediverse Predictive Health Monitoring System is a machine learning based application that predicts a user’s health condition using parameters such as temperature, heart rate, oxygen level, and steps. The system is developed using a Flask web application where users can enter their health data. Machine learning algorithms including </a:t>
            </a:r>
            <a:r>
              <a:rPr lang="en-US" sz="2800" b="1" dirty="0">
                <a:latin typeface="Times New Roman" panose="02020603050405020304" pitchFamily="18" charset="0"/>
                <a:cs typeface="Times New Roman" panose="02020603050405020304" pitchFamily="18" charset="0"/>
              </a:rPr>
              <a:t>SVM, KNN, Linear Model, and Random Forest</a:t>
            </a:r>
            <a:r>
              <a:rPr lang="en-US" sz="2800" dirty="0">
                <a:latin typeface="Times New Roman" panose="02020603050405020304" pitchFamily="18" charset="0"/>
                <a:cs typeface="Times New Roman" panose="02020603050405020304" pitchFamily="18" charset="0"/>
              </a:rPr>
              <a:t> are used and evaluated using </a:t>
            </a:r>
            <a:r>
              <a:rPr lang="en-US" sz="2800" b="1" dirty="0">
                <a:latin typeface="Times New Roman" panose="02020603050405020304" pitchFamily="18" charset="0"/>
                <a:cs typeface="Times New Roman" panose="02020603050405020304" pitchFamily="18" charset="0"/>
              </a:rPr>
              <a:t>Accuracy, Recall, and F1-score</a:t>
            </a:r>
            <a:r>
              <a:rPr lang="en-US" sz="2800" dirty="0">
                <a:latin typeface="Times New Roman" panose="02020603050405020304" pitchFamily="18" charset="0"/>
                <a:cs typeface="Times New Roman" panose="02020603050405020304" pitchFamily="18" charset="0"/>
              </a:rPr>
              <a:t>. Random Forest is selected as the best model for prediction. The system classifies health status as Good, Medium, or Risk and also provides basic health recommendations. </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286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9BB08-92C1-1BBA-6AF0-A87D1C4C9A28}"/>
              </a:ext>
            </a:extLst>
          </p:cNvPr>
          <p:cNvSpPr>
            <a:spLocks noGrp="1"/>
          </p:cNvSpPr>
          <p:nvPr>
            <p:ph type="title"/>
          </p:nvPr>
        </p:nvSpPr>
        <p:spPr>
          <a:xfrm>
            <a:off x="254000" y="764373"/>
            <a:ext cx="11740776" cy="1293028"/>
          </a:xfrm>
        </p:spPr>
        <p:txBody>
          <a:bodyPr>
            <a:normAutofit/>
          </a:bodyPr>
          <a:lstStyle/>
          <a:p>
            <a:pPr algn="ctr"/>
            <a:r>
              <a:rPr lang="en-IN" sz="3200" b="1" dirty="0">
                <a:latin typeface="Times New Roman" panose="02020603050405020304" pitchFamily="18" charset="0"/>
                <a:cs typeface="Times New Roman" panose="02020603050405020304" pitchFamily="18" charset="0"/>
              </a:rPr>
              <a:t>           INTRODUCTION</a:t>
            </a:r>
          </a:p>
        </p:txBody>
      </p:sp>
      <p:sp>
        <p:nvSpPr>
          <p:cNvPr id="3" name="Content Placeholder 2">
            <a:extLst>
              <a:ext uri="{FF2B5EF4-FFF2-40B4-BE49-F238E27FC236}">
                <a16:creationId xmlns:a16="http://schemas.microsoft.com/office/drawing/2014/main" id="{5FF5FEE7-EBAB-3F4F-FD78-0ABB93735B6D}"/>
              </a:ext>
            </a:extLst>
          </p:cNvPr>
          <p:cNvSpPr>
            <a:spLocks noGrp="1"/>
          </p:cNvSpPr>
          <p:nvPr>
            <p:ph idx="1"/>
          </p:nvPr>
        </p:nvSpPr>
        <p:spPr>
          <a:xfrm>
            <a:off x="685799" y="2223247"/>
            <a:ext cx="11102789" cy="3630706"/>
          </a:xfrm>
        </p:spPr>
        <p:txBody>
          <a:bodyPr>
            <a:noAutofit/>
          </a:bodyPr>
          <a:lstStyle/>
          <a:p>
            <a:pPr marL="0" indent="0" algn="just">
              <a:buNone/>
            </a:pPr>
            <a:r>
              <a:rPr lang="en-IN" sz="2800" dirty="0">
                <a:effectLst/>
                <a:latin typeface="Times New Roman" panose="02020603050405020304" pitchFamily="18" charset="0"/>
                <a:ea typeface="Times New Roman" panose="02020603050405020304" pitchFamily="18" charset="0"/>
              </a:rPr>
              <a:t>	Mediverse Predictive Health Monitoring System is a machine learning based web application that helps predict a user’s health condition using basic health parameters such as temperature, heart rate, oxygen level, and steps. The system is developed using a Flask application where users can enter their health data. Machine learning algorithms like </a:t>
            </a:r>
            <a:r>
              <a:rPr lang="en-IN" sz="2800" b="1" dirty="0">
                <a:effectLst/>
                <a:latin typeface="Times New Roman" panose="02020603050405020304" pitchFamily="18" charset="0"/>
                <a:ea typeface="Times New Roman" panose="02020603050405020304" pitchFamily="18" charset="0"/>
              </a:rPr>
              <a:t>SVM, KNN, Linear Model, and Random Forest </a:t>
            </a:r>
            <a:r>
              <a:rPr lang="en-IN" sz="2800" dirty="0">
                <a:effectLst/>
                <a:latin typeface="Times New Roman" panose="02020603050405020304" pitchFamily="18" charset="0"/>
                <a:ea typeface="Times New Roman" panose="02020603050405020304" pitchFamily="18" charset="0"/>
              </a:rPr>
              <a:t>are used to analyze the data and predict the health status. The system classifies the result as </a:t>
            </a:r>
            <a:r>
              <a:rPr lang="en-IN" sz="2800" b="1" dirty="0">
                <a:effectLst/>
                <a:latin typeface="Times New Roman" panose="02020603050405020304" pitchFamily="18" charset="0"/>
                <a:ea typeface="Times New Roman" panose="02020603050405020304" pitchFamily="18" charset="0"/>
              </a:rPr>
              <a:t>Good, Medium, or Risk </a:t>
            </a:r>
            <a:r>
              <a:rPr lang="en-IN" sz="2800" dirty="0">
                <a:effectLst/>
                <a:latin typeface="Times New Roman" panose="02020603050405020304" pitchFamily="18" charset="0"/>
                <a:ea typeface="Times New Roman" panose="02020603050405020304" pitchFamily="18" charset="0"/>
              </a:rPr>
              <a:t>and also provides simple health recommendations. This helps users monitor their health and take preventive actions.</a:t>
            </a:r>
          </a:p>
        </p:txBody>
      </p:sp>
    </p:spTree>
    <p:extLst>
      <p:ext uri="{BB962C8B-B14F-4D97-AF65-F5344CB8AC3E}">
        <p14:creationId xmlns:p14="http://schemas.microsoft.com/office/powerpoint/2010/main" val="2269764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6568-9494-DC57-63E5-8F3024F4F53A}"/>
              </a:ext>
            </a:extLst>
          </p:cNvPr>
          <p:cNvSpPr>
            <a:spLocks noGrp="1"/>
          </p:cNvSpPr>
          <p:nvPr>
            <p:ph type="title"/>
          </p:nvPr>
        </p:nvSpPr>
        <p:spPr>
          <a:xfrm>
            <a:off x="161366" y="277906"/>
            <a:ext cx="11833410" cy="1210235"/>
          </a:xfrm>
        </p:spPr>
        <p:txBody>
          <a:bodyPr>
            <a:normAutofit/>
          </a:bodyPr>
          <a:lstStyle/>
          <a:p>
            <a:pPr algn="ctr"/>
            <a:r>
              <a:rPr lang="en-IN" sz="3200" b="1" dirty="0">
                <a:latin typeface="Times New Roman" panose="02020603050405020304" pitchFamily="18" charset="0"/>
                <a:cs typeface="Times New Roman" panose="02020603050405020304" pitchFamily="18" charset="0"/>
              </a:rPr>
              <a:t>          EXISTING SYSTEM</a:t>
            </a:r>
          </a:p>
        </p:txBody>
      </p:sp>
      <p:sp>
        <p:nvSpPr>
          <p:cNvPr id="3" name="Content Placeholder 2">
            <a:extLst>
              <a:ext uri="{FF2B5EF4-FFF2-40B4-BE49-F238E27FC236}">
                <a16:creationId xmlns:a16="http://schemas.microsoft.com/office/drawing/2014/main" id="{DCC0C6FF-47EC-C019-6E60-5E201E57C117}"/>
              </a:ext>
            </a:extLst>
          </p:cNvPr>
          <p:cNvSpPr>
            <a:spLocks noGrp="1"/>
          </p:cNvSpPr>
          <p:nvPr>
            <p:ph idx="1"/>
          </p:nvPr>
        </p:nvSpPr>
        <p:spPr>
          <a:xfrm>
            <a:off x="614680" y="1658471"/>
            <a:ext cx="10962640" cy="4598894"/>
          </a:xfrm>
        </p:spPr>
        <p:txBody>
          <a:bodyPr>
            <a:noAutofit/>
          </a:bodyPr>
          <a:lstStyle/>
          <a:p>
            <a:pPr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Existing systems such as </a:t>
            </a:r>
            <a:r>
              <a:rPr lang="en-US" sz="2800" b="1" dirty="0">
                <a:latin typeface="Times New Roman" panose="02020603050405020304" pitchFamily="18" charset="0"/>
                <a:cs typeface="Times New Roman" panose="02020603050405020304" pitchFamily="18" charset="0"/>
              </a:rPr>
              <a:t>JARVIS, Blackbox</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Athos</a:t>
            </a:r>
            <a:r>
              <a:rPr lang="en-US" sz="2800" dirty="0">
                <a:latin typeface="Times New Roman" panose="02020603050405020304" pitchFamily="18" charset="0"/>
                <a:cs typeface="Times New Roman" panose="02020603050405020304" pitchFamily="18" charset="0"/>
              </a:rPr>
              <a:t> are primarily designed for fitness and wellness monitoring rather than clinical healthcare. They track parameters like heart rate, muscle activity, and physical performance using </a:t>
            </a:r>
            <a:r>
              <a:rPr lang="en-US" sz="2800" b="1" dirty="0">
                <a:latin typeface="Times New Roman" panose="02020603050405020304" pitchFamily="18" charset="0"/>
                <a:cs typeface="Times New Roman" panose="02020603050405020304" pitchFamily="18" charset="0"/>
              </a:rPr>
              <a:t>threshold-based</a:t>
            </a:r>
            <a:r>
              <a:rPr lang="en-US" sz="2800" dirty="0">
                <a:latin typeface="Times New Roman" panose="02020603050405020304" pitchFamily="18" charset="0"/>
                <a:cs typeface="Times New Roman" panose="02020603050405020304" pitchFamily="18" charset="0"/>
              </a:rPr>
              <a:t>, basic </a:t>
            </a:r>
            <a:r>
              <a:rPr lang="en-US" sz="2800" b="1" dirty="0">
                <a:latin typeface="Times New Roman" panose="02020603050405020304" pitchFamily="18" charset="0"/>
                <a:cs typeface="Times New Roman" panose="02020603050405020304" pitchFamily="18" charset="0"/>
              </a:rPr>
              <a:t>signal processing</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statistical analysis algorithms</a:t>
            </a:r>
            <a:r>
              <a:rPr lang="en-US" sz="2800" dirty="0">
                <a:latin typeface="Times New Roman" panose="02020603050405020304" pitchFamily="18" charset="0"/>
                <a:cs typeface="Times New Roman" panose="02020603050405020304" pitchFamily="18" charset="0"/>
              </a:rPr>
              <a:t>. While suitable for fitness tracking, these methods are not adequate for accurate medical health risk prediction.</a:t>
            </a:r>
          </a:p>
          <a:p>
            <a:pPr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These systems rely on cloud-based data processing, which may introduce latency in </a:t>
            </a:r>
            <a:r>
              <a:rPr lang="en-US" sz="2800" b="1" dirty="0">
                <a:latin typeface="Times New Roman" panose="02020603050405020304" pitchFamily="18" charset="0"/>
                <a:cs typeface="Times New Roman" panose="02020603050405020304" pitchFamily="18" charset="0"/>
              </a:rPr>
              <a:t>time-sensitive healthcare </a:t>
            </a:r>
            <a:r>
              <a:rPr lang="en-US" sz="2800" dirty="0">
                <a:latin typeface="Times New Roman" panose="02020603050405020304" pitchFamily="18" charset="0"/>
                <a:cs typeface="Times New Roman" panose="02020603050405020304" pitchFamily="18" charset="0"/>
              </a:rPr>
              <a:t>situations. Their visualization is limited to 2D dashboards, and they lack medical interoperability, making them unsuitable for hospital-level health monitoring and clinical integration.</a:t>
            </a:r>
          </a:p>
          <a:p>
            <a:pPr algn="just">
              <a:buFont typeface="Wingdings" panose="05000000000000000000" pitchFamily="2" charset="2"/>
              <a:buChar char="Ø"/>
            </a:pP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1763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F1AA2-64D7-AE78-AB1F-28A552C7378E}"/>
              </a:ext>
            </a:extLst>
          </p:cNvPr>
          <p:cNvSpPr>
            <a:spLocks noGrp="1"/>
          </p:cNvSpPr>
          <p:nvPr>
            <p:ph type="title"/>
          </p:nvPr>
        </p:nvSpPr>
        <p:spPr>
          <a:xfrm>
            <a:off x="152400" y="764373"/>
            <a:ext cx="11788588" cy="822380"/>
          </a:xfrm>
        </p:spPr>
        <p:txBody>
          <a:bodyPr>
            <a:normAutofit fontScale="90000"/>
          </a:bodyPr>
          <a:lstStyle/>
          <a:p>
            <a:pPr algn="ctr"/>
            <a:r>
              <a:rPr lang="en-US" sz="3200" b="1" dirty="0">
                <a:effectLst/>
                <a:latin typeface="Times New Roman" panose="02020603050405020304" pitchFamily="18" charset="0"/>
                <a:ea typeface="Times New Roman" panose="02020603050405020304" pitchFamily="18" charset="0"/>
              </a:rPr>
              <a:t>Disadvantages</a:t>
            </a:r>
            <a:br>
              <a:rPr lang="en-IN" sz="3200" dirty="0">
                <a:effectLst/>
                <a:latin typeface="Times New Roman" panose="02020603050405020304" pitchFamily="18" charset="0"/>
                <a:ea typeface="Times New Roman" panose="02020603050405020304" pitchFamily="18" charset="0"/>
              </a:rPr>
            </a:br>
            <a:endParaRPr lang="en-IN" sz="3200"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EC434DD3-5B2C-DF34-4CC7-242258D5A514}"/>
              </a:ext>
            </a:extLst>
          </p:cNvPr>
          <p:cNvSpPr>
            <a:spLocks noGrp="1"/>
          </p:cNvSpPr>
          <p:nvPr>
            <p:ph idx="1"/>
          </p:nvPr>
        </p:nvSpPr>
        <p:spPr>
          <a:xfrm>
            <a:off x="685800" y="2057401"/>
            <a:ext cx="10986247" cy="4036225"/>
          </a:xfrm>
        </p:spPr>
        <p:txBody>
          <a:bodyPr>
            <a:normAutofit/>
          </a:bodyPr>
          <a:lstStyle/>
          <a:p>
            <a:pPr algn="just">
              <a:buFont typeface="Wingdings" panose="05000000000000000000" pitchFamily="2" charset="2"/>
              <a:buChar char="Ø"/>
            </a:pPr>
            <a:r>
              <a:rPr lang="en-IN" sz="2800" dirty="0">
                <a:effectLst/>
                <a:latin typeface="Times New Roman" panose="02020603050405020304" pitchFamily="18" charset="0"/>
                <a:ea typeface="Times New Roman" panose="02020603050405020304" pitchFamily="18" charset="0"/>
              </a:rPr>
              <a:t>Existing systems mainly focus on </a:t>
            </a:r>
            <a:r>
              <a:rPr lang="en-IN" sz="2800" b="1" dirty="0">
                <a:effectLst/>
                <a:latin typeface="Times New Roman" panose="02020603050405020304" pitchFamily="18" charset="0"/>
                <a:ea typeface="Times New Roman" panose="02020603050405020304" pitchFamily="18" charset="0"/>
              </a:rPr>
              <a:t>fitness tracking</a:t>
            </a:r>
            <a:r>
              <a:rPr lang="en-IN" sz="2800" dirty="0">
                <a:effectLst/>
                <a:latin typeface="Times New Roman" panose="02020603050405020304" pitchFamily="18" charset="0"/>
                <a:ea typeface="Times New Roman" panose="02020603050405020304" pitchFamily="18" charset="0"/>
              </a:rPr>
              <a:t> and do not provide accurate real-time health monitoring for medical purposes.</a:t>
            </a:r>
          </a:p>
          <a:p>
            <a:pPr algn="just">
              <a:buFont typeface="Wingdings" panose="05000000000000000000" pitchFamily="2" charset="2"/>
              <a:buChar char="Ø"/>
            </a:pPr>
            <a:endParaRPr lang="en-IN" sz="2800" dirty="0">
              <a:effectLst/>
              <a:latin typeface="Times New Roman" panose="02020603050405020304" pitchFamily="18" charset="0"/>
              <a:ea typeface="Times New Roman" panose="02020603050405020304" pitchFamily="18" charset="0"/>
            </a:endParaRPr>
          </a:p>
          <a:p>
            <a:pPr algn="just">
              <a:buFont typeface="Wingdings" panose="05000000000000000000" pitchFamily="2" charset="2"/>
              <a:buChar char="Ø"/>
            </a:pPr>
            <a:r>
              <a:rPr lang="en-IN" sz="2800" dirty="0">
                <a:effectLst/>
                <a:latin typeface="Times New Roman" panose="02020603050405020304" pitchFamily="18" charset="0"/>
                <a:ea typeface="Times New Roman" panose="02020603050405020304" pitchFamily="18" charset="0"/>
              </a:rPr>
              <a:t>Health information is shown using </a:t>
            </a:r>
            <a:r>
              <a:rPr lang="en-IN" sz="2800" b="1" dirty="0">
                <a:effectLst/>
                <a:latin typeface="Times New Roman" panose="02020603050405020304" pitchFamily="18" charset="0"/>
                <a:ea typeface="Times New Roman" panose="02020603050405020304" pitchFamily="18" charset="0"/>
              </a:rPr>
              <a:t>basic dashboards</a:t>
            </a:r>
            <a:r>
              <a:rPr lang="en-IN" sz="2800" dirty="0">
                <a:effectLst/>
                <a:latin typeface="Times New Roman" panose="02020603050405020304" pitchFamily="18" charset="0"/>
                <a:ea typeface="Times New Roman" panose="02020603050405020304" pitchFamily="18" charset="0"/>
              </a:rPr>
              <a:t>, and these systems </a:t>
            </a:r>
            <a:r>
              <a:rPr lang="en-IN" sz="2800" b="1" dirty="0">
                <a:effectLst/>
                <a:latin typeface="Times New Roman" panose="02020603050405020304" pitchFamily="18" charset="0"/>
                <a:ea typeface="Times New Roman" panose="02020603050405020304" pitchFamily="18" charset="0"/>
              </a:rPr>
              <a:t>do not connect with hospital or healthcare systems</a:t>
            </a:r>
            <a:r>
              <a:rPr lang="en-IN" sz="2800" dirty="0">
                <a:effectLst/>
                <a:latin typeface="Times New Roman" panose="02020603050405020304" pitchFamily="18" charset="0"/>
                <a:ea typeface="Times New Roman" panose="02020603050405020304" pitchFamily="18" charset="0"/>
              </a:rPr>
              <a:t>.</a:t>
            </a:r>
          </a:p>
          <a:p>
            <a:pPr algn="just">
              <a:buFont typeface="Wingdings" panose="05000000000000000000" pitchFamily="2" charset="2"/>
              <a:buChar char="Ø"/>
            </a:pPr>
            <a:endParaRPr lang="en-IN" sz="2800" dirty="0">
              <a:effectLst/>
              <a:latin typeface="Times New Roman" panose="02020603050405020304" pitchFamily="18" charset="0"/>
              <a:ea typeface="Times New Roman" panose="02020603050405020304" pitchFamily="18" charset="0"/>
            </a:endParaRPr>
          </a:p>
          <a:p>
            <a:pPr algn="just">
              <a:buFont typeface="Wingdings" panose="05000000000000000000" pitchFamily="2" charset="2"/>
              <a:buChar char="Ø"/>
            </a:pPr>
            <a:r>
              <a:rPr lang="en-IN" sz="2800" dirty="0">
                <a:effectLst/>
                <a:latin typeface="Times New Roman" panose="02020603050405020304" pitchFamily="18" charset="0"/>
                <a:ea typeface="Times New Roman" panose="02020603050405020304" pitchFamily="18" charset="0"/>
              </a:rPr>
              <a:t>They have limited security, scalability, and medical compatibility, making them not suitable for advanced healthcare applications.</a:t>
            </a:r>
          </a:p>
          <a:p>
            <a:pPr algn="just">
              <a:buFont typeface="Wingdings" panose="05000000000000000000" pitchFamily="2" charset="2"/>
              <a:buChar char="Ø"/>
            </a:pP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52033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A46A0-3A71-20E8-065C-10B5A366D044}"/>
              </a:ext>
            </a:extLst>
          </p:cNvPr>
          <p:cNvSpPr>
            <a:spLocks noGrp="1"/>
          </p:cNvSpPr>
          <p:nvPr>
            <p:ph type="title"/>
          </p:nvPr>
        </p:nvSpPr>
        <p:spPr>
          <a:xfrm>
            <a:off x="170329" y="313766"/>
            <a:ext cx="11887200" cy="1344706"/>
          </a:xfrm>
        </p:spPr>
        <p:txBody>
          <a:bodyPr>
            <a:normAutofit/>
          </a:bodyPr>
          <a:lstStyle/>
          <a:p>
            <a:pPr algn="ctr"/>
            <a:r>
              <a:rPr lang="en-IN" sz="3200" b="1" dirty="0">
                <a:latin typeface="Times New Roman" panose="02020603050405020304" pitchFamily="18" charset="0"/>
                <a:cs typeface="Times New Roman" panose="02020603050405020304" pitchFamily="18" charset="0"/>
              </a:rPr>
              <a:t>     PROPOSED SYSTEM</a:t>
            </a:r>
          </a:p>
        </p:txBody>
      </p:sp>
      <p:sp>
        <p:nvSpPr>
          <p:cNvPr id="3" name="Content Placeholder 2">
            <a:extLst>
              <a:ext uri="{FF2B5EF4-FFF2-40B4-BE49-F238E27FC236}">
                <a16:creationId xmlns:a16="http://schemas.microsoft.com/office/drawing/2014/main" id="{9A294412-780A-380E-CB22-F6A69C4F9653}"/>
              </a:ext>
            </a:extLst>
          </p:cNvPr>
          <p:cNvSpPr>
            <a:spLocks noGrp="1"/>
          </p:cNvSpPr>
          <p:nvPr>
            <p:ph idx="1"/>
          </p:nvPr>
        </p:nvSpPr>
        <p:spPr>
          <a:xfrm>
            <a:off x="685800" y="1506071"/>
            <a:ext cx="10986247" cy="4356847"/>
          </a:xfrm>
        </p:spPr>
        <p:txBody>
          <a:bodyPr>
            <a:noAutofit/>
          </a:bodyPr>
          <a:lstStyle/>
          <a:p>
            <a:pPr marL="0" indent="0" algn="just">
              <a:lnSpc>
                <a:spcPct val="100000"/>
              </a:lnSpc>
              <a:buNone/>
            </a:pPr>
            <a:r>
              <a:rPr lang="en-US" sz="2800" dirty="0">
                <a:effectLst/>
                <a:latin typeface="Times New Roman" panose="02020603050405020304" pitchFamily="18" charset="0"/>
                <a:ea typeface="Times New Roman" panose="02020603050405020304" pitchFamily="18" charset="0"/>
              </a:rPr>
              <a:t>	The proposed system is a machine learning-based health risk prediction web application developed using Python and Flask. The system collects user health inputs such as temperature, daily steps, health index, flu information, heart rate, and oxygen level through a web interface. The system trains and compares multiple machine learning models including </a:t>
            </a:r>
            <a:r>
              <a:rPr lang="en-US" sz="2800" b="1" dirty="0">
                <a:effectLst/>
                <a:latin typeface="Times New Roman" panose="02020603050405020304" pitchFamily="18" charset="0"/>
                <a:ea typeface="Times New Roman" panose="02020603050405020304" pitchFamily="18" charset="0"/>
              </a:rPr>
              <a:t>SVM, KNN, Linear model</a:t>
            </a:r>
            <a:r>
              <a:rPr lang="en-US" sz="2800" dirty="0">
                <a:effectLst/>
                <a:latin typeface="Times New Roman" panose="02020603050405020304" pitchFamily="18" charset="0"/>
                <a:ea typeface="Times New Roman" panose="02020603050405020304" pitchFamily="18" charset="0"/>
              </a:rPr>
              <a:t>, and </a:t>
            </a:r>
            <a:r>
              <a:rPr lang="en-US" sz="2800" b="1" dirty="0">
                <a:effectLst/>
                <a:latin typeface="Times New Roman" panose="02020603050405020304" pitchFamily="18" charset="0"/>
                <a:ea typeface="Times New Roman" panose="02020603050405020304" pitchFamily="18" charset="0"/>
              </a:rPr>
              <a:t>Random Forest </a:t>
            </a:r>
            <a:r>
              <a:rPr lang="en-US" sz="2800" dirty="0">
                <a:effectLst/>
                <a:latin typeface="Times New Roman" panose="02020603050405020304" pitchFamily="18" charset="0"/>
                <a:ea typeface="Times New Roman" panose="02020603050405020304" pitchFamily="18" charset="0"/>
              </a:rPr>
              <a:t>using </a:t>
            </a:r>
            <a:r>
              <a:rPr lang="en-US" sz="2800" b="1" dirty="0">
                <a:effectLst/>
                <a:latin typeface="Times New Roman" panose="02020603050405020304" pitchFamily="18" charset="0"/>
                <a:ea typeface="Times New Roman" panose="02020603050405020304" pitchFamily="18" charset="0"/>
              </a:rPr>
              <a:t>accuracy, recall</a:t>
            </a:r>
            <a:r>
              <a:rPr lang="en-US" sz="2800" dirty="0">
                <a:effectLst/>
                <a:latin typeface="Times New Roman" panose="02020603050405020304" pitchFamily="18" charset="0"/>
                <a:ea typeface="Times New Roman" panose="02020603050405020304" pitchFamily="18" charset="0"/>
              </a:rPr>
              <a:t>, and </a:t>
            </a:r>
            <a:r>
              <a:rPr lang="en-US" sz="2800" b="1" dirty="0">
                <a:effectLst/>
                <a:latin typeface="Times New Roman" panose="02020603050405020304" pitchFamily="18" charset="0"/>
                <a:ea typeface="Times New Roman" panose="02020603050405020304" pitchFamily="18" charset="0"/>
              </a:rPr>
              <a:t>F1-score</a:t>
            </a:r>
            <a:r>
              <a:rPr lang="en-US" sz="2800" dirty="0">
                <a:effectLst/>
                <a:latin typeface="Times New Roman" panose="02020603050405020304" pitchFamily="18" charset="0"/>
                <a:ea typeface="Times New Roman" panose="02020603050405020304" pitchFamily="18" charset="0"/>
              </a:rPr>
              <a:t>. Based on performance evaluation, Random Forest is selected as the final model for prediction. The system then classifies the user's health condition into categories such as </a:t>
            </a:r>
            <a:r>
              <a:rPr lang="en-US" sz="2800" b="1" dirty="0">
                <a:effectLst/>
                <a:latin typeface="Times New Roman" panose="02020603050405020304" pitchFamily="18" charset="0"/>
                <a:ea typeface="Times New Roman" panose="02020603050405020304" pitchFamily="18" charset="0"/>
              </a:rPr>
              <a:t>Risk, Good, Medium </a:t>
            </a:r>
            <a:r>
              <a:rPr lang="en-US" sz="2800" dirty="0">
                <a:effectLst/>
                <a:latin typeface="Times New Roman" panose="02020603050405020304" pitchFamily="18" charset="0"/>
                <a:ea typeface="Times New Roman" panose="02020603050405020304" pitchFamily="18" charset="0"/>
              </a:rPr>
              <a:t>and provides health recommendations.</a:t>
            </a:r>
            <a:endParaRPr lang="en-IN" sz="2800" dirty="0">
              <a:effectLst/>
              <a:latin typeface="Times New Roman" panose="02020603050405020304" pitchFamily="18" charset="0"/>
              <a:ea typeface="Times New Roman" panose="02020603050405020304" pitchFamily="18" charset="0"/>
            </a:endParaRPr>
          </a:p>
          <a:p>
            <a:pPr marL="0" indent="0" algn="just">
              <a:lnSpc>
                <a:spcPct val="100000"/>
              </a:lnSpc>
              <a:buNone/>
            </a:pPr>
            <a:br>
              <a:rPr lang="en-US" sz="2800" dirty="0">
                <a:effectLst/>
                <a:latin typeface="Times New Roman" panose="02020603050405020304" pitchFamily="18" charset="0"/>
                <a:ea typeface="Times New Roman" panose="02020603050405020304" pitchFamily="18" charset="0"/>
              </a:rPr>
            </a:b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8503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0C945-9889-ADE1-AEB9-604CF73F3ECB}"/>
              </a:ext>
            </a:extLst>
          </p:cNvPr>
          <p:cNvSpPr>
            <a:spLocks noGrp="1"/>
          </p:cNvSpPr>
          <p:nvPr>
            <p:ph type="title"/>
          </p:nvPr>
        </p:nvSpPr>
        <p:spPr>
          <a:xfrm>
            <a:off x="161365" y="558633"/>
            <a:ext cx="11887200" cy="1171556"/>
          </a:xfrm>
        </p:spPr>
        <p:txBody>
          <a:bodyPr>
            <a:normAutofit/>
          </a:bodyPr>
          <a:lstStyle/>
          <a:p>
            <a:pPr algn="ctr"/>
            <a:r>
              <a:rPr lang="en-US" sz="3200" b="1" dirty="0">
                <a:latin typeface="Times New Roman" panose="02020603050405020304" pitchFamily="18" charset="0"/>
                <a:cs typeface="Times New Roman" panose="02020603050405020304" pitchFamily="18" charset="0"/>
              </a:rPr>
              <a:t>	</a:t>
            </a:r>
            <a:r>
              <a:rPr lang="en-US" sz="3200" b="1" dirty="0">
                <a:solidFill>
                  <a:srgbClr val="1F2A44"/>
                </a:solidFill>
                <a:latin typeface="Times New Roman" panose="02020603050405020304" pitchFamily="18" charset="0"/>
                <a:ea typeface="Source Serif 4 Semi Bold" pitchFamily="34" charset="-122"/>
                <a:cs typeface="Times New Roman" panose="02020603050405020304" pitchFamily="18" charset="0"/>
              </a:rPr>
              <a:t>Advantages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473C7D-D364-81AF-2661-746EA960B8CC}"/>
              </a:ext>
            </a:extLst>
          </p:cNvPr>
          <p:cNvSpPr>
            <a:spLocks noGrp="1"/>
          </p:cNvSpPr>
          <p:nvPr>
            <p:ph idx="1"/>
          </p:nvPr>
        </p:nvSpPr>
        <p:spPr>
          <a:xfrm>
            <a:off x="685800" y="1577788"/>
            <a:ext cx="11129682" cy="4849906"/>
          </a:xfrm>
        </p:spPr>
        <p:txBody>
          <a:bodyPr>
            <a:noAutofit/>
          </a:bodyPr>
          <a:lstStyle/>
          <a:p>
            <a:pPr marL="342900" lvl="0" indent="-342900" algn="just">
              <a:lnSpc>
                <a:spcPct val="100000"/>
              </a:lnSpc>
              <a:buFont typeface="Wingdings" panose="05000000000000000000" pitchFamily="2" charset="2"/>
              <a:buChar char=""/>
            </a:pPr>
            <a:r>
              <a:rPr lang="en-IN" sz="2800" dirty="0">
                <a:effectLst/>
                <a:latin typeface="Times New Roman" panose="02020603050405020304" pitchFamily="18" charset="0"/>
                <a:ea typeface="Times New Roman" panose="02020603050405020304" pitchFamily="18" charset="0"/>
              </a:rPr>
              <a:t>The system compares multiple machine learning models </a:t>
            </a:r>
            <a:r>
              <a:rPr lang="en-IN" sz="2800" b="1" dirty="0">
                <a:effectLst/>
                <a:latin typeface="Times New Roman" panose="02020603050405020304" pitchFamily="18" charset="0"/>
                <a:ea typeface="Times New Roman" panose="02020603050405020304" pitchFamily="18" charset="0"/>
              </a:rPr>
              <a:t>(SVM, KNN, Linear, Random Forest)</a:t>
            </a:r>
            <a:r>
              <a:rPr lang="en-IN" sz="2800" dirty="0">
                <a:effectLst/>
                <a:latin typeface="Times New Roman" panose="02020603050405020304" pitchFamily="18" charset="0"/>
                <a:ea typeface="Times New Roman" panose="02020603050405020304" pitchFamily="18" charset="0"/>
              </a:rPr>
              <a:t> using </a:t>
            </a:r>
            <a:r>
              <a:rPr lang="en-IN" sz="2800" b="1" dirty="0">
                <a:effectLst/>
                <a:latin typeface="Times New Roman" panose="02020603050405020304" pitchFamily="18" charset="0"/>
                <a:ea typeface="Times New Roman" panose="02020603050405020304" pitchFamily="18" charset="0"/>
              </a:rPr>
              <a:t>accuracy, recall, and F1-score,</a:t>
            </a:r>
            <a:r>
              <a:rPr lang="en-IN" sz="2800" dirty="0">
                <a:effectLst/>
                <a:latin typeface="Times New Roman" panose="02020603050405020304" pitchFamily="18" charset="0"/>
                <a:ea typeface="Times New Roman" panose="02020603050405020304" pitchFamily="18" charset="0"/>
              </a:rPr>
              <a:t> and selects the best-performing model for prediction.</a:t>
            </a:r>
          </a:p>
          <a:p>
            <a:pPr marL="0" lvl="0" indent="0" algn="just">
              <a:lnSpc>
                <a:spcPct val="100000"/>
              </a:lnSpc>
              <a:buNone/>
            </a:pPr>
            <a:endParaRPr lang="en-IN" sz="2800" dirty="0">
              <a:effectLst/>
              <a:latin typeface="Times New Roman" panose="02020603050405020304" pitchFamily="18" charset="0"/>
              <a:ea typeface="Times New Roman" panose="02020603050405020304" pitchFamily="18" charset="0"/>
            </a:endParaRPr>
          </a:p>
          <a:p>
            <a:pPr marL="342900" lvl="0" indent="-342900" algn="just">
              <a:lnSpc>
                <a:spcPct val="100000"/>
              </a:lnSpc>
              <a:buFont typeface="Wingdings" panose="05000000000000000000" pitchFamily="2" charset="2"/>
              <a:buChar char=""/>
            </a:pPr>
            <a:r>
              <a:rPr lang="en-IN" sz="2800" dirty="0">
                <a:effectLst/>
                <a:latin typeface="Times New Roman" panose="02020603050405020304" pitchFamily="18" charset="0"/>
                <a:ea typeface="Times New Roman" panose="02020603050405020304" pitchFamily="18" charset="0"/>
              </a:rPr>
              <a:t>Random Forest is used as the final model to predict the user's health condition </a:t>
            </a:r>
            <a:r>
              <a:rPr lang="en-IN" sz="2800" b="1" dirty="0">
                <a:effectLst/>
                <a:latin typeface="Times New Roman" panose="02020603050405020304" pitchFamily="18" charset="0"/>
                <a:ea typeface="Times New Roman" panose="02020603050405020304" pitchFamily="18" charset="0"/>
              </a:rPr>
              <a:t>(Risk,Medium,Good)</a:t>
            </a:r>
            <a:r>
              <a:rPr lang="en-IN" sz="2800" dirty="0">
                <a:effectLst/>
                <a:latin typeface="Times New Roman" panose="02020603050405020304" pitchFamily="18" charset="0"/>
                <a:ea typeface="Times New Roman" panose="02020603050405020304" pitchFamily="18" charset="0"/>
              </a:rPr>
              <a:t> based on multiple health parameters.</a:t>
            </a:r>
          </a:p>
          <a:p>
            <a:pPr marL="0" lvl="0" indent="0" algn="just">
              <a:lnSpc>
                <a:spcPct val="100000"/>
              </a:lnSpc>
              <a:buNone/>
            </a:pPr>
            <a:endParaRPr lang="en-IN" sz="2800" dirty="0">
              <a:effectLst/>
              <a:latin typeface="Times New Roman" panose="02020603050405020304" pitchFamily="18" charset="0"/>
              <a:ea typeface="Times New Roman" panose="02020603050405020304" pitchFamily="18" charset="0"/>
            </a:endParaRPr>
          </a:p>
          <a:p>
            <a:pPr marL="342900" lvl="0" indent="-342900" algn="just">
              <a:lnSpc>
                <a:spcPct val="100000"/>
              </a:lnSpc>
              <a:buFont typeface="Wingdings" panose="05000000000000000000" pitchFamily="2" charset="2"/>
              <a:buChar char=""/>
            </a:pPr>
            <a:r>
              <a:rPr lang="en-IN" sz="2800" dirty="0">
                <a:effectLst/>
                <a:latin typeface="Times New Roman" panose="02020603050405020304" pitchFamily="18" charset="0"/>
                <a:ea typeface="Times New Roman" panose="02020603050405020304" pitchFamily="18" charset="0"/>
              </a:rPr>
              <a:t>The system analyses several health inputs such as temperature, daily steps, health index, flu status, heart rate, and oxygen level to improve prediction reliability.</a:t>
            </a:r>
          </a:p>
        </p:txBody>
      </p:sp>
      <p:sp>
        <p:nvSpPr>
          <p:cNvPr id="4" name="Rectangle 1">
            <a:extLst>
              <a:ext uri="{FF2B5EF4-FFF2-40B4-BE49-F238E27FC236}">
                <a16:creationId xmlns:a16="http://schemas.microsoft.com/office/drawing/2014/main" id="{C1AF446B-12A1-4B13-9DA7-A03B68CF4550}"/>
              </a:ext>
            </a:extLst>
          </p:cNvPr>
          <p:cNvSpPr>
            <a:spLocks noChangeArrowheads="1"/>
          </p:cNvSpPr>
          <p:nvPr/>
        </p:nvSpPr>
        <p:spPr bwMode="auto">
          <a:xfrm>
            <a:off x="0" y="-338811"/>
            <a:ext cx="65" cy="677623"/>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5374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5AB8EE-AF5A-4868-B836-33F2667E3E6B}"/>
              </a:ext>
            </a:extLst>
          </p:cNvPr>
          <p:cNvSpPr>
            <a:spLocks noGrp="1"/>
          </p:cNvSpPr>
          <p:nvPr>
            <p:ph type="title"/>
          </p:nvPr>
        </p:nvSpPr>
        <p:spPr>
          <a:xfrm>
            <a:off x="138952" y="484095"/>
            <a:ext cx="11900648" cy="1192306"/>
          </a:xfrm>
        </p:spPr>
        <p:txBody>
          <a:bodyPr>
            <a:normAutofit/>
          </a:bodyPr>
          <a:lstStyle/>
          <a:p>
            <a:pPr marL="457200" algn="ctr">
              <a:lnSpc>
                <a:spcPct val="107000"/>
              </a:lnSpc>
              <a:spcAft>
                <a:spcPts val="800"/>
              </a:spcAft>
              <a:tabLst>
                <a:tab pos="1447800" algn="l"/>
              </a:tabLst>
            </a:pP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SYSTEM REQUIREMENTS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70A340D3-4D5A-4C73-9642-895FDBB8B0D4}"/>
              </a:ext>
            </a:extLst>
          </p:cNvPr>
          <p:cNvSpPr>
            <a:spLocks noGrp="1"/>
          </p:cNvSpPr>
          <p:nvPr>
            <p:ph idx="1"/>
          </p:nvPr>
        </p:nvSpPr>
        <p:spPr>
          <a:xfrm>
            <a:off x="685800" y="2698376"/>
            <a:ext cx="9578788" cy="3395251"/>
          </a:xfrm>
        </p:spPr>
        <p:txBody>
          <a:bodyPr>
            <a:normAutofit lnSpcReduction="10000"/>
          </a:bodyPr>
          <a:lstStyle/>
          <a:p>
            <a:pPr marL="342900" lvl="0" indent="-342900" algn="just">
              <a:lnSpc>
                <a:spcPct val="107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Operating system	-Windows 7 or higher</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Editor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Sublime editor or Visual studio code.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Coding Language 	- Python</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Front-End 		- HTML, CSS, JAVASCRIPT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Back-End 			- Python, Flask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Deployment</a:t>
            </a:r>
            <a:r>
              <a:rPr lang="en-IN" sz="2800" b="1" dirty="0">
                <a:latin typeface="Times New Roman" panose="02020603050405020304" pitchFamily="18" charset="0"/>
                <a:cs typeface="Times New Roman" panose="02020603050405020304" pitchFamily="18" charset="0"/>
              </a:rPr>
              <a:t>		- </a:t>
            </a:r>
            <a:r>
              <a:rPr lang="en-IN" sz="2800" dirty="0">
                <a:latin typeface="Times New Roman" panose="02020603050405020304" pitchFamily="18" charset="0"/>
                <a:cs typeface="Times New Roman" panose="02020603050405020304" pitchFamily="18" charset="0"/>
              </a:rPr>
              <a:t>Localhost / Web server</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Database			- Excel</a:t>
            </a:r>
          </a:p>
          <a:p>
            <a:pPr marL="0" indent="0" algn="just">
              <a:buNone/>
            </a:pPr>
            <a:endParaRPr lang="en-IN"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4A4330B-1A2D-4EA7-867E-E245859320A1}"/>
              </a:ext>
            </a:extLst>
          </p:cNvPr>
          <p:cNvSpPr txBox="1"/>
          <p:nvPr/>
        </p:nvSpPr>
        <p:spPr>
          <a:xfrm flipH="1">
            <a:off x="138952" y="1766509"/>
            <a:ext cx="7718611" cy="530594"/>
          </a:xfrm>
          <a:prstGeom prst="rect">
            <a:avLst/>
          </a:prstGeom>
          <a:noFill/>
        </p:spPr>
        <p:txBody>
          <a:bodyPr wrap="square" rtlCol="0">
            <a:spAutoFit/>
          </a:bodyPr>
          <a:lstStyle/>
          <a:p>
            <a:pPr marL="457200" lvl="0" indent="-457200">
              <a:lnSpc>
                <a:spcPct val="107000"/>
              </a:lnSpc>
              <a:spcAft>
                <a:spcPts val="800"/>
              </a:spcAft>
              <a:buFont typeface="Wingdings" panose="05000000000000000000" pitchFamily="2" charset="2"/>
              <a:buChar char="v"/>
              <a:tabLst>
                <a:tab pos="457200" algn="l"/>
                <a:tab pos="144780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SOFTWARE REQUIREMENTS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3543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6C262B-3A1E-404A-88CA-48825651BF29}"/>
              </a:ext>
            </a:extLst>
          </p:cNvPr>
          <p:cNvSpPr>
            <a:spLocks noGrp="1"/>
          </p:cNvSpPr>
          <p:nvPr>
            <p:ph idx="1"/>
          </p:nvPr>
        </p:nvSpPr>
        <p:spPr>
          <a:xfrm>
            <a:off x="685800" y="2877671"/>
            <a:ext cx="10820400" cy="3341014"/>
          </a:xfrm>
        </p:spPr>
        <p:txBody>
          <a:bodyPr>
            <a:normAutofit/>
          </a:bodyPr>
          <a:lstStyle/>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Processor 		- Pentium - IV</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RAM 		- 4 GB (min)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Hard Disk 	- 20 GB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Monitor 		- SVGA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Key Board 	- Standard Windows Keyboard</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Mouse 		- Two or Three Button Mouse </a:t>
            </a:r>
          </a:p>
          <a:p>
            <a:pPr algn="just">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6A64DD2-9DE3-41A5-9694-380F60F17AF5}"/>
              </a:ext>
            </a:extLst>
          </p:cNvPr>
          <p:cNvSpPr txBox="1"/>
          <p:nvPr/>
        </p:nvSpPr>
        <p:spPr>
          <a:xfrm flipH="1">
            <a:off x="143435" y="1766047"/>
            <a:ext cx="6391835" cy="530594"/>
          </a:xfrm>
          <a:prstGeom prst="rect">
            <a:avLst/>
          </a:prstGeom>
          <a:noFill/>
        </p:spPr>
        <p:txBody>
          <a:bodyPr wrap="square" rtlCol="0">
            <a:spAutoFit/>
          </a:bodyPr>
          <a:lstStyle/>
          <a:p>
            <a:pPr marL="457200" lvl="0" indent="-457200">
              <a:lnSpc>
                <a:spcPct val="107000"/>
              </a:lnSpc>
              <a:spcAft>
                <a:spcPts val="800"/>
              </a:spcAft>
              <a:buFont typeface="Wingdings" panose="05000000000000000000" pitchFamily="2" charset="2"/>
              <a:buChar char="v"/>
              <a:tabLst>
                <a:tab pos="457200" algn="l"/>
                <a:tab pos="144780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1060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6B6BF-D48D-4ACE-8846-532A82CD99E0}"/>
              </a:ext>
            </a:extLst>
          </p:cNvPr>
          <p:cNvSpPr>
            <a:spLocks noGrp="1"/>
          </p:cNvSpPr>
          <p:nvPr>
            <p:ph type="title"/>
          </p:nvPr>
        </p:nvSpPr>
        <p:spPr>
          <a:xfrm>
            <a:off x="161365" y="252585"/>
            <a:ext cx="11806517" cy="1154874"/>
          </a:xfrm>
        </p:spPr>
        <p:txBody>
          <a:bodyPr>
            <a:normAutofit/>
          </a:bodyPr>
          <a:lstStyle/>
          <a:p>
            <a:pPr algn="ctr"/>
            <a:r>
              <a:rPr lang="en-IN" sz="3200" b="1" i="0" u="none" strike="noStrike" dirty="0">
                <a:solidFill>
                  <a:srgbClr val="000000"/>
                </a:solidFill>
                <a:effectLst/>
                <a:latin typeface="Times New Roman" panose="02020603050405020304" pitchFamily="18" charset="0"/>
              </a:rPr>
              <a:t>ARCHITECTURE</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B165C25-4E03-414B-B045-F65F79FFC2D4}"/>
              </a:ext>
            </a:extLst>
          </p:cNvPr>
          <p:cNvPicPr/>
          <p:nvPr/>
        </p:nvPicPr>
        <p:blipFill rotWithShape="1">
          <a:blip r:embed="rId2">
            <a:extLst>
              <a:ext uri="{28A0092B-C50C-407E-A947-70E740481C1C}">
                <a14:useLocalDpi xmlns:a14="http://schemas.microsoft.com/office/drawing/2010/main" val="0"/>
              </a:ext>
            </a:extLst>
          </a:blip>
          <a:srcRect l="4534" r="4279" b="16742"/>
          <a:stretch/>
        </p:blipFill>
        <p:spPr bwMode="auto">
          <a:xfrm>
            <a:off x="3128682" y="1201271"/>
            <a:ext cx="6113930" cy="5404144"/>
          </a:xfrm>
          <a:prstGeom prst="rect">
            <a:avLst/>
          </a:prstGeom>
          <a:noFill/>
          <a:ln>
            <a:noFill/>
          </a:ln>
        </p:spPr>
      </p:pic>
    </p:spTree>
    <p:extLst>
      <p:ext uri="{BB962C8B-B14F-4D97-AF65-F5344CB8AC3E}">
        <p14:creationId xmlns:p14="http://schemas.microsoft.com/office/powerpoint/2010/main" val="4083683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6B6BF-D48D-4ACE-8846-532A82CD99E0}"/>
              </a:ext>
            </a:extLst>
          </p:cNvPr>
          <p:cNvSpPr>
            <a:spLocks noGrp="1"/>
          </p:cNvSpPr>
          <p:nvPr>
            <p:ph type="title"/>
          </p:nvPr>
        </p:nvSpPr>
        <p:spPr>
          <a:xfrm>
            <a:off x="268941" y="477502"/>
            <a:ext cx="11752730" cy="938922"/>
          </a:xfrm>
        </p:spPr>
        <p:txBody>
          <a:bodyPr>
            <a:normAutofit/>
          </a:bodyPr>
          <a:lstStyle/>
          <a:p>
            <a:pPr algn="ctr"/>
            <a:r>
              <a:rPr lang="en-IN" sz="3200" b="1" i="0" u="none" strike="noStrike" dirty="0">
                <a:solidFill>
                  <a:srgbClr val="000000"/>
                </a:solidFill>
                <a:effectLst/>
                <a:latin typeface="Times New Roman" panose="02020603050405020304" pitchFamily="18" charset="0"/>
              </a:rPr>
              <a:t>ALGORITHMS</a:t>
            </a:r>
            <a:endParaRPr lang="en-IN" sz="32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26C262B-3A1E-404A-88CA-48825651BF29}"/>
              </a:ext>
            </a:extLst>
          </p:cNvPr>
          <p:cNvSpPr>
            <a:spLocks noGrp="1"/>
          </p:cNvSpPr>
          <p:nvPr>
            <p:ph idx="1"/>
          </p:nvPr>
        </p:nvSpPr>
        <p:spPr>
          <a:xfrm>
            <a:off x="685800" y="1694330"/>
            <a:ext cx="10820400" cy="3899646"/>
          </a:xfrm>
        </p:spPr>
        <p:txBody>
          <a:bodyPr>
            <a:normAutofit/>
          </a:bodyPr>
          <a:lstStyle/>
          <a:p>
            <a:pPr>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 Input Data Acquisition Algorithm</a:t>
            </a:r>
            <a:endParaRPr lang="en-IN" sz="2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 Data Preprocessing Algorithm</a:t>
            </a:r>
            <a:endParaRPr lang="en-IN" sz="2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 Model Training &amp; Evaluation Algorithm</a:t>
            </a:r>
            <a:endParaRPr lang="en-IN" sz="2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 Health Risk Prediction Algorithm (Random Forest-ML)</a:t>
            </a:r>
            <a:endParaRPr lang="en-IN" sz="2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 Result Display &amp; Recommendation Algorithm</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30700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D4453A-25C1-4A7C-809B-5496CDA41CBE}"/>
              </a:ext>
            </a:extLst>
          </p:cNvPr>
          <p:cNvSpPr txBox="1"/>
          <p:nvPr/>
        </p:nvSpPr>
        <p:spPr>
          <a:xfrm>
            <a:off x="896470" y="1440036"/>
            <a:ext cx="5280212" cy="461665"/>
          </a:xfrm>
          <a:prstGeom prst="rect">
            <a:avLst/>
          </a:prstGeom>
          <a:noFill/>
        </p:spPr>
        <p:txBody>
          <a:bodyPr wrap="square" rtlCol="0">
            <a:spAutoFit/>
          </a:bodyPr>
          <a:lstStyle/>
          <a:p>
            <a:r>
              <a:rPr lang="en-US" sz="2400" b="1" dirty="0">
                <a:effectLst/>
                <a:latin typeface="Times New Roman" panose="02020603050405020304" pitchFamily="18" charset="0"/>
                <a:ea typeface="Times New Roman" panose="02020603050405020304" pitchFamily="18" charset="0"/>
              </a:rPr>
              <a:t>Input Data Acquisition Algorithm</a:t>
            </a:r>
            <a:endParaRPr lang="en-IN" sz="2400" b="1"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7AABB350-8C17-47B1-BB01-4D702B100422}"/>
              </a:ext>
            </a:extLst>
          </p:cNvPr>
          <p:cNvSpPr txBox="1"/>
          <p:nvPr/>
        </p:nvSpPr>
        <p:spPr>
          <a:xfrm>
            <a:off x="896470" y="3798820"/>
            <a:ext cx="4455459" cy="461665"/>
          </a:xfrm>
          <a:prstGeom prst="rect">
            <a:avLst/>
          </a:prstGeom>
          <a:noFill/>
        </p:spPr>
        <p:txBody>
          <a:bodyPr wrap="square" rtlCol="0">
            <a:spAutoFit/>
          </a:bodyPr>
          <a:lstStyle/>
          <a:p>
            <a:r>
              <a:rPr lang="en-US" sz="2400" b="1" dirty="0">
                <a:effectLst/>
                <a:latin typeface="Times New Roman" panose="02020603050405020304" pitchFamily="18" charset="0"/>
                <a:ea typeface="Times New Roman" panose="02020603050405020304" pitchFamily="18" charset="0"/>
              </a:rPr>
              <a:t>Data Preprocessing Algorithm</a:t>
            </a:r>
            <a:endParaRPr lang="en-IN" sz="2400" b="1"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DCF7F0A2-7E22-40D2-99EC-A8B034CCFD80}"/>
              </a:ext>
            </a:extLst>
          </p:cNvPr>
          <p:cNvSpPr txBox="1"/>
          <p:nvPr/>
        </p:nvSpPr>
        <p:spPr>
          <a:xfrm>
            <a:off x="1851209" y="4575479"/>
            <a:ext cx="9471214" cy="1015663"/>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effectLst/>
                <a:latin typeface="Times New Roman" panose="02020603050405020304" pitchFamily="18" charset="0"/>
                <a:ea typeface="Times New Roman" panose="02020603050405020304" pitchFamily="18" charset="0"/>
              </a:rPr>
              <a:t>Purpose:</a:t>
            </a:r>
            <a:r>
              <a:rPr lang="en-IN" sz="2000" dirty="0">
                <a:effectLst/>
                <a:latin typeface="Times New Roman" panose="02020603050405020304" pitchFamily="18" charset="0"/>
                <a:ea typeface="Times New Roman" panose="02020603050405020304" pitchFamily="18" charset="0"/>
              </a:rPr>
              <a:t> Prepare raw health data for ML model.</a:t>
            </a:r>
          </a:p>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dataset is validated and checked for structure and correctness before training.</a:t>
            </a:r>
          </a:p>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data is split into training and testing sets for model evaluation.</a:t>
            </a:r>
          </a:p>
        </p:txBody>
      </p:sp>
      <p:sp>
        <p:nvSpPr>
          <p:cNvPr id="11" name="TextBox 10">
            <a:extLst>
              <a:ext uri="{FF2B5EF4-FFF2-40B4-BE49-F238E27FC236}">
                <a16:creationId xmlns:a16="http://schemas.microsoft.com/office/drawing/2014/main" id="{BDE7AD1D-6380-4F27-93A3-1EEF9FDCF4A0}"/>
              </a:ext>
            </a:extLst>
          </p:cNvPr>
          <p:cNvSpPr txBox="1"/>
          <p:nvPr/>
        </p:nvSpPr>
        <p:spPr>
          <a:xfrm flipH="1">
            <a:off x="1851208" y="1985346"/>
            <a:ext cx="9471215" cy="1631216"/>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b="1" dirty="0">
                <a:effectLst/>
                <a:latin typeface="Times New Roman" panose="02020603050405020304" pitchFamily="18" charset="0"/>
                <a:ea typeface="Times New Roman" panose="02020603050405020304" pitchFamily="18" charset="0"/>
              </a:rPr>
              <a:t>Purpose:</a:t>
            </a:r>
            <a:r>
              <a:rPr lang="en-IN" sz="2000" dirty="0">
                <a:effectLst/>
                <a:latin typeface="Times New Roman" panose="02020603050405020304" pitchFamily="18" charset="0"/>
                <a:ea typeface="Times New Roman" panose="02020603050405020304" pitchFamily="18" charset="0"/>
              </a:rPr>
              <a:t> Collect health data from system input.</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system loads the health dataset (Excel/CSV) for model training in the admin module.</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system collects user health inputs (temperature, steps, health index, flu, heart rate, oxygen level) through the web form.</a:t>
            </a:r>
          </a:p>
        </p:txBody>
      </p:sp>
    </p:spTree>
    <p:extLst>
      <p:ext uri="{BB962C8B-B14F-4D97-AF65-F5344CB8AC3E}">
        <p14:creationId xmlns:p14="http://schemas.microsoft.com/office/powerpoint/2010/main" val="2754800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7673C8E-502C-4834-8B34-D972A51B8C4E}"/>
              </a:ext>
            </a:extLst>
          </p:cNvPr>
          <p:cNvSpPr txBox="1"/>
          <p:nvPr/>
        </p:nvSpPr>
        <p:spPr>
          <a:xfrm>
            <a:off x="1183341" y="1284603"/>
            <a:ext cx="8381999" cy="461665"/>
          </a:xfrm>
          <a:prstGeom prst="rect">
            <a:avLst/>
          </a:prstGeom>
          <a:noFill/>
        </p:spPr>
        <p:txBody>
          <a:bodyPr wrap="square" rtlCol="0">
            <a:spAutoFit/>
          </a:bodyPr>
          <a:lstStyle/>
          <a:p>
            <a:r>
              <a:rPr lang="en-US" sz="2400" b="1" dirty="0">
                <a:effectLst/>
                <a:latin typeface="Times New Roman" panose="02020603050405020304" pitchFamily="18" charset="0"/>
                <a:ea typeface="Times New Roman" panose="02020603050405020304" pitchFamily="18" charset="0"/>
              </a:rPr>
              <a:t>Model Training &amp; Evaluation Algorithm</a:t>
            </a:r>
            <a:endParaRPr lang="en-IN" sz="24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120B98E-DB69-4108-83FC-1F87DE51E0ED}"/>
              </a:ext>
            </a:extLst>
          </p:cNvPr>
          <p:cNvSpPr txBox="1"/>
          <p:nvPr/>
        </p:nvSpPr>
        <p:spPr>
          <a:xfrm>
            <a:off x="2088774" y="1720181"/>
            <a:ext cx="9386047" cy="1323439"/>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b="1" dirty="0">
                <a:effectLst/>
                <a:latin typeface="Times New Roman" panose="02020603050405020304" pitchFamily="18" charset="0"/>
                <a:ea typeface="Times New Roman" panose="02020603050405020304" pitchFamily="18" charset="0"/>
              </a:rPr>
              <a:t>Purpose:</a:t>
            </a:r>
            <a:r>
              <a:rPr lang="en-IN" sz="2000" dirty="0">
                <a:effectLst/>
                <a:latin typeface="Times New Roman" panose="02020603050405020304" pitchFamily="18" charset="0"/>
                <a:ea typeface="Times New Roman" panose="02020603050405020304" pitchFamily="18" charset="0"/>
              </a:rPr>
              <a:t> Core machine learning prediction.</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system trains SVM, KNN, Linear, and Random Forest models using the dataset.</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Their performance is compared using accuracy, recall, and F1-score, and the best model is selected.</a:t>
            </a:r>
          </a:p>
        </p:txBody>
      </p:sp>
      <p:sp>
        <p:nvSpPr>
          <p:cNvPr id="8" name="TextBox 7">
            <a:extLst>
              <a:ext uri="{FF2B5EF4-FFF2-40B4-BE49-F238E27FC236}">
                <a16:creationId xmlns:a16="http://schemas.microsoft.com/office/drawing/2014/main" id="{A4A3A874-1587-413E-917B-68D604D6A097}"/>
              </a:ext>
            </a:extLst>
          </p:cNvPr>
          <p:cNvSpPr txBox="1"/>
          <p:nvPr/>
        </p:nvSpPr>
        <p:spPr>
          <a:xfrm>
            <a:off x="1183341" y="3082936"/>
            <a:ext cx="8148918" cy="461665"/>
          </a:xfrm>
          <a:prstGeom prst="rect">
            <a:avLst/>
          </a:prstGeom>
          <a:noFill/>
        </p:spPr>
        <p:txBody>
          <a:bodyPr wrap="square" rtlCol="0">
            <a:spAutoFit/>
          </a:bodyPr>
          <a:lstStyle/>
          <a:p>
            <a:r>
              <a:rPr lang="en-US" sz="2400" b="1" dirty="0">
                <a:effectLst/>
                <a:latin typeface="Times New Roman" panose="02020603050405020304" pitchFamily="18" charset="0"/>
                <a:ea typeface="Times New Roman" panose="02020603050405020304" pitchFamily="18" charset="0"/>
              </a:rPr>
              <a:t>Health Risk Prediction Algorithm (Random Forest-ML)</a:t>
            </a:r>
            <a:endParaRPr lang="en-IN" sz="2400" b="1"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765DC1F1-3E2F-4815-8761-DCD1D4C935C9}"/>
              </a:ext>
            </a:extLst>
          </p:cNvPr>
          <p:cNvSpPr txBox="1"/>
          <p:nvPr/>
        </p:nvSpPr>
        <p:spPr>
          <a:xfrm>
            <a:off x="1272991" y="4818326"/>
            <a:ext cx="6571128" cy="461665"/>
          </a:xfrm>
          <a:prstGeom prst="rect">
            <a:avLst/>
          </a:prstGeom>
          <a:noFill/>
        </p:spPr>
        <p:txBody>
          <a:bodyPr wrap="square" rtlCol="0">
            <a:spAutoFit/>
          </a:bodyPr>
          <a:lstStyle/>
          <a:p>
            <a:pPr algn="just"/>
            <a:r>
              <a:rPr lang="en-US" sz="2400" b="1" dirty="0">
                <a:effectLst/>
                <a:latin typeface="Times New Roman" panose="02020603050405020304" pitchFamily="18" charset="0"/>
                <a:ea typeface="Times New Roman" panose="02020603050405020304" pitchFamily="18" charset="0"/>
              </a:rPr>
              <a:t>Result Display &amp; Recommendation Algorithm</a:t>
            </a:r>
            <a:endParaRPr lang="en-IN" sz="2400" b="1"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8721FB08-F585-45F0-B761-7F0F63B86B63}"/>
              </a:ext>
            </a:extLst>
          </p:cNvPr>
          <p:cNvSpPr txBox="1"/>
          <p:nvPr/>
        </p:nvSpPr>
        <p:spPr>
          <a:xfrm>
            <a:off x="2088773" y="5319307"/>
            <a:ext cx="9386047" cy="1323439"/>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b="1" dirty="0">
                <a:effectLst/>
                <a:latin typeface="Times New Roman" panose="02020603050405020304" pitchFamily="18" charset="0"/>
                <a:ea typeface="Times New Roman" panose="02020603050405020304" pitchFamily="18" charset="0"/>
              </a:rPr>
              <a:t>Purpose:</a:t>
            </a:r>
            <a:r>
              <a:rPr lang="en-IN" sz="2000" dirty="0">
                <a:effectLst/>
                <a:latin typeface="Times New Roman" panose="02020603050405020304" pitchFamily="18" charset="0"/>
                <a:ea typeface="Times New Roman" panose="02020603050405020304" pitchFamily="18" charset="0"/>
              </a:rPr>
              <a:t> Provide actionable system output.</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predicted health category is returned from the model to the Flask application.</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result (Good / Medium / Risk) along with a corresponding message is displayed on the user interface.</a:t>
            </a:r>
          </a:p>
        </p:txBody>
      </p:sp>
      <p:sp>
        <p:nvSpPr>
          <p:cNvPr id="12" name="TextBox 11">
            <a:extLst>
              <a:ext uri="{FF2B5EF4-FFF2-40B4-BE49-F238E27FC236}">
                <a16:creationId xmlns:a16="http://schemas.microsoft.com/office/drawing/2014/main" id="{C2434CC9-50AC-4539-AF71-ADFCB8C36EFE}"/>
              </a:ext>
            </a:extLst>
          </p:cNvPr>
          <p:cNvSpPr txBox="1"/>
          <p:nvPr/>
        </p:nvSpPr>
        <p:spPr>
          <a:xfrm>
            <a:off x="2088773" y="3673632"/>
            <a:ext cx="9386048" cy="1015663"/>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b="1" dirty="0">
                <a:effectLst/>
                <a:latin typeface="Times New Roman" panose="02020603050405020304" pitchFamily="18" charset="0"/>
                <a:ea typeface="Times New Roman" panose="02020603050405020304" pitchFamily="18" charset="0"/>
              </a:rPr>
              <a:t>Purpose:</a:t>
            </a:r>
            <a:r>
              <a:rPr lang="en-IN" sz="2000" dirty="0">
                <a:effectLst/>
                <a:latin typeface="Times New Roman" panose="02020603050405020304" pitchFamily="18" charset="0"/>
                <a:ea typeface="Times New Roman" panose="02020603050405020304" pitchFamily="18" charset="0"/>
              </a:rPr>
              <a:t> Predict the health risk.</a:t>
            </a:r>
          </a:p>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The selected Random Forest model receives user health inputs.</a:t>
            </a:r>
          </a:p>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It predicts the health status as Good, Medium, or Risk.</a:t>
            </a:r>
          </a:p>
        </p:txBody>
      </p:sp>
    </p:spTree>
    <p:extLst>
      <p:ext uri="{BB962C8B-B14F-4D97-AF65-F5344CB8AC3E}">
        <p14:creationId xmlns:p14="http://schemas.microsoft.com/office/powerpoint/2010/main" val="2651097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6B6BF-D48D-4ACE-8846-532A82CD99E0}"/>
              </a:ext>
            </a:extLst>
          </p:cNvPr>
          <p:cNvSpPr>
            <a:spLocks noGrp="1"/>
          </p:cNvSpPr>
          <p:nvPr>
            <p:ph type="title"/>
          </p:nvPr>
        </p:nvSpPr>
        <p:spPr>
          <a:xfrm>
            <a:off x="206187" y="477502"/>
            <a:ext cx="11797553" cy="938922"/>
          </a:xfrm>
        </p:spPr>
        <p:txBody>
          <a:bodyPr>
            <a:normAutofit/>
          </a:bodyPr>
          <a:lstStyle/>
          <a:p>
            <a:pPr algn="ctr"/>
            <a:r>
              <a:rPr lang="en-IN" sz="3600" b="1" i="0" u="none" strike="noStrike" dirty="0">
                <a:solidFill>
                  <a:srgbClr val="000000"/>
                </a:solidFill>
                <a:effectLst/>
                <a:latin typeface="Times New Roman" panose="02020603050405020304" pitchFamily="18" charset="0"/>
              </a:rPr>
              <a:t>MODULES</a:t>
            </a:r>
            <a:endParaRPr lang="en-IN" sz="36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26C262B-3A1E-404A-88CA-48825651BF29}"/>
              </a:ext>
            </a:extLst>
          </p:cNvPr>
          <p:cNvSpPr>
            <a:spLocks noGrp="1"/>
          </p:cNvSpPr>
          <p:nvPr>
            <p:ph idx="1"/>
          </p:nvPr>
        </p:nvSpPr>
        <p:spPr>
          <a:xfrm>
            <a:off x="685800" y="1748118"/>
            <a:ext cx="10820400" cy="3768762"/>
          </a:xfrm>
        </p:spPr>
        <p:txBody>
          <a:bodyPr>
            <a:normAutofit/>
          </a:bodyPr>
          <a:lstStyle/>
          <a:p>
            <a:pP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Data Collection Module</a:t>
            </a:r>
          </a:p>
          <a:p>
            <a:pP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Data Preparation Module</a:t>
            </a:r>
          </a:p>
          <a:p>
            <a:pPr algn="just">
              <a:buFont typeface="Wingdings" panose="05000000000000000000" pitchFamily="2" charset="2"/>
              <a:buChar char="Ø"/>
            </a:pPr>
            <a:r>
              <a:rPr lang="en-IN" altLang="en-US" sz="2800" dirty="0">
                <a:latin typeface="Times New Roman" panose="02020603050405020304" pitchFamily="18" charset="0"/>
                <a:cs typeface="Times New Roman" panose="02020603050405020304" pitchFamily="18" charset="0"/>
              </a:rPr>
              <a:t> Model Selection Module</a:t>
            </a:r>
          </a:p>
          <a:p>
            <a:pP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Model Training Module</a:t>
            </a:r>
            <a:endParaRPr lang="en-IN" alt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Prediction and Recommendation Module</a:t>
            </a:r>
            <a:br>
              <a:rPr lang="en-US" altLang="en-US" sz="2800" dirty="0">
                <a:latin typeface="Times New Roman" panose="02020603050405020304" pitchFamily="18" charset="0"/>
                <a:cs typeface="Times New Roman" panose="02020603050405020304" pitchFamily="18" charset="0"/>
              </a:rPr>
            </a:b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7962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D4453A-25C1-4A7C-809B-5496CDA41CBE}"/>
              </a:ext>
            </a:extLst>
          </p:cNvPr>
          <p:cNvSpPr txBox="1"/>
          <p:nvPr/>
        </p:nvSpPr>
        <p:spPr>
          <a:xfrm>
            <a:off x="986117" y="1724481"/>
            <a:ext cx="5280212" cy="861774"/>
          </a:xfrm>
          <a:prstGeom prst="rect">
            <a:avLst/>
          </a:prstGeom>
          <a:noFill/>
        </p:spPr>
        <p:txBody>
          <a:bodyPr wrap="square" rtlCol="0">
            <a:spAutoFit/>
          </a:bodyPr>
          <a:lstStyle/>
          <a:p>
            <a:r>
              <a:rPr lang="en-US" altLang="en-US" sz="2500" b="1" dirty="0">
                <a:latin typeface="Times New Roman" panose="02020603050405020304" pitchFamily="18" charset="0"/>
                <a:cs typeface="Times New Roman" panose="02020603050405020304" pitchFamily="18" charset="0"/>
              </a:rPr>
              <a:t>Data Collection Module</a:t>
            </a:r>
          </a:p>
          <a:p>
            <a:endParaRPr lang="en-IN" sz="2500" dirty="0"/>
          </a:p>
        </p:txBody>
      </p:sp>
      <p:sp>
        <p:nvSpPr>
          <p:cNvPr id="9" name="TextBox 8">
            <a:extLst>
              <a:ext uri="{FF2B5EF4-FFF2-40B4-BE49-F238E27FC236}">
                <a16:creationId xmlns:a16="http://schemas.microsoft.com/office/drawing/2014/main" id="{7AABB350-8C17-47B1-BB01-4D702B100422}"/>
              </a:ext>
            </a:extLst>
          </p:cNvPr>
          <p:cNvSpPr txBox="1"/>
          <p:nvPr/>
        </p:nvSpPr>
        <p:spPr>
          <a:xfrm>
            <a:off x="986117" y="4119282"/>
            <a:ext cx="5109883" cy="861774"/>
          </a:xfrm>
          <a:prstGeom prst="rect">
            <a:avLst/>
          </a:prstGeom>
          <a:noFill/>
        </p:spPr>
        <p:txBody>
          <a:bodyPr wrap="square" rtlCol="0">
            <a:spAutoFit/>
          </a:bodyPr>
          <a:lstStyle/>
          <a:p>
            <a:r>
              <a:rPr lang="en-US" altLang="en-US" sz="2500" b="1" dirty="0">
                <a:latin typeface="Times New Roman" panose="02020603050405020304" pitchFamily="18" charset="0"/>
                <a:cs typeface="Times New Roman" panose="02020603050405020304" pitchFamily="18" charset="0"/>
              </a:rPr>
              <a:t>Data Preparation Module</a:t>
            </a:r>
          </a:p>
          <a:p>
            <a:endParaRPr lang="en-IN" sz="2500" dirty="0"/>
          </a:p>
        </p:txBody>
      </p:sp>
      <p:sp>
        <p:nvSpPr>
          <p:cNvPr id="10" name="TextBox 9">
            <a:extLst>
              <a:ext uri="{FF2B5EF4-FFF2-40B4-BE49-F238E27FC236}">
                <a16:creationId xmlns:a16="http://schemas.microsoft.com/office/drawing/2014/main" id="{DCF7F0A2-7E22-40D2-99EC-A8B034CCFD80}"/>
              </a:ext>
            </a:extLst>
          </p:cNvPr>
          <p:cNvSpPr txBox="1"/>
          <p:nvPr/>
        </p:nvSpPr>
        <p:spPr>
          <a:xfrm>
            <a:off x="1851209" y="4836700"/>
            <a:ext cx="9072283" cy="1015663"/>
          </a:xfrm>
          <a:prstGeom prst="rect">
            <a:avLst/>
          </a:prstGeom>
          <a:noFill/>
        </p:spPr>
        <p:txBody>
          <a:bodyPr wrap="square" rtlCol="0">
            <a:spAutoFit/>
          </a:bodyPr>
          <a:lstStyle/>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Validates the dataset structure and checks for missing values.</a:t>
            </a:r>
          </a:p>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Selects required health features for training.</a:t>
            </a:r>
          </a:p>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Splits the dataset into training and testing sets.</a:t>
            </a:r>
          </a:p>
        </p:txBody>
      </p:sp>
      <p:sp>
        <p:nvSpPr>
          <p:cNvPr id="11" name="TextBox 10">
            <a:extLst>
              <a:ext uri="{FF2B5EF4-FFF2-40B4-BE49-F238E27FC236}">
                <a16:creationId xmlns:a16="http://schemas.microsoft.com/office/drawing/2014/main" id="{573E44C4-2F02-4346-B517-DA8F5700F004}"/>
              </a:ext>
            </a:extLst>
          </p:cNvPr>
          <p:cNvSpPr txBox="1"/>
          <p:nvPr/>
        </p:nvSpPr>
        <p:spPr>
          <a:xfrm>
            <a:off x="1851209" y="2492833"/>
            <a:ext cx="9072282" cy="1323439"/>
          </a:xfrm>
          <a:prstGeom prst="rect">
            <a:avLst/>
          </a:prstGeom>
          <a:noFill/>
        </p:spPr>
        <p:txBody>
          <a:bodyPr wrap="square" rtlCol="0">
            <a:spAutoFit/>
          </a:bodyPr>
          <a:lstStyle/>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Loads the health dataset from a CSV file for model training.</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Receives user health inputs through the web form.</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Uses parameters: Temperature, Daily Steps, Health Index, Flu, Heart Rate, and Oxygen Level.</a:t>
            </a:r>
          </a:p>
        </p:txBody>
      </p:sp>
    </p:spTree>
    <p:extLst>
      <p:ext uri="{BB962C8B-B14F-4D97-AF65-F5344CB8AC3E}">
        <p14:creationId xmlns:p14="http://schemas.microsoft.com/office/powerpoint/2010/main" val="2259539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4A3A874-1587-413E-917B-68D604D6A097}"/>
              </a:ext>
            </a:extLst>
          </p:cNvPr>
          <p:cNvSpPr txBox="1"/>
          <p:nvPr/>
        </p:nvSpPr>
        <p:spPr>
          <a:xfrm>
            <a:off x="1084731" y="3073796"/>
            <a:ext cx="4231340" cy="477054"/>
          </a:xfrm>
          <a:prstGeom prst="rect">
            <a:avLst/>
          </a:prstGeom>
          <a:noFill/>
        </p:spPr>
        <p:txBody>
          <a:bodyPr wrap="square" rtlCol="0">
            <a:spAutoFit/>
          </a:bodyPr>
          <a:lstStyle/>
          <a:p>
            <a:r>
              <a:rPr lang="en-US" sz="2500" b="1" dirty="0">
                <a:effectLst/>
                <a:latin typeface="Times New Roman" panose="02020603050405020304" pitchFamily="18" charset="0"/>
                <a:ea typeface="Times New Roman" panose="02020603050405020304" pitchFamily="18" charset="0"/>
              </a:rPr>
              <a:t>Model Training Module</a:t>
            </a:r>
            <a:endParaRPr lang="en-IN" sz="2500" b="1" dirty="0"/>
          </a:p>
        </p:txBody>
      </p:sp>
      <p:sp>
        <p:nvSpPr>
          <p:cNvPr id="10" name="TextBox 9">
            <a:extLst>
              <a:ext uri="{FF2B5EF4-FFF2-40B4-BE49-F238E27FC236}">
                <a16:creationId xmlns:a16="http://schemas.microsoft.com/office/drawing/2014/main" id="{765DC1F1-3E2F-4815-8761-DCD1D4C935C9}"/>
              </a:ext>
            </a:extLst>
          </p:cNvPr>
          <p:cNvSpPr txBox="1"/>
          <p:nvPr/>
        </p:nvSpPr>
        <p:spPr>
          <a:xfrm>
            <a:off x="1084731" y="4827644"/>
            <a:ext cx="5925670" cy="477054"/>
          </a:xfrm>
          <a:prstGeom prst="rect">
            <a:avLst/>
          </a:prstGeom>
          <a:noFill/>
        </p:spPr>
        <p:txBody>
          <a:bodyPr wrap="square" rtlCol="0">
            <a:spAutoFit/>
          </a:bodyPr>
          <a:lstStyle/>
          <a:p>
            <a:r>
              <a:rPr lang="en-US" sz="2500" b="1" dirty="0">
                <a:effectLst/>
                <a:latin typeface="Times New Roman" panose="02020603050405020304" pitchFamily="18" charset="0"/>
                <a:ea typeface="Times New Roman" panose="02020603050405020304" pitchFamily="18" charset="0"/>
              </a:rPr>
              <a:t>Prediction and Recommendation Module</a:t>
            </a:r>
            <a:endParaRPr lang="en-IN" sz="2500" b="1" dirty="0"/>
          </a:p>
        </p:txBody>
      </p:sp>
      <p:sp>
        <p:nvSpPr>
          <p:cNvPr id="4" name="TextBox 3">
            <a:extLst>
              <a:ext uri="{FF2B5EF4-FFF2-40B4-BE49-F238E27FC236}">
                <a16:creationId xmlns:a16="http://schemas.microsoft.com/office/drawing/2014/main" id="{8721FB08-F585-45F0-B761-7F0F63B86B63}"/>
              </a:ext>
            </a:extLst>
          </p:cNvPr>
          <p:cNvSpPr txBox="1"/>
          <p:nvPr/>
        </p:nvSpPr>
        <p:spPr>
          <a:xfrm>
            <a:off x="1577789" y="5409539"/>
            <a:ext cx="8624046" cy="1015663"/>
          </a:xfrm>
          <a:prstGeom prst="rect">
            <a:avLst/>
          </a:prstGeom>
          <a:noFill/>
        </p:spPr>
        <p:txBody>
          <a:bodyPr wrap="square" rtlCol="0">
            <a:spAutoFit/>
          </a:bodyPr>
          <a:lstStyle/>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Accepts user health input for prediction.</a:t>
            </a:r>
          </a:p>
          <a:p>
            <a:pPr marL="342900" lvl="0" indent="-342900">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Uses the trained Random Forest model to predict Good, Medium, or Risk.</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Displays the predicted health status and message on the user interface.</a:t>
            </a:r>
          </a:p>
        </p:txBody>
      </p:sp>
      <p:sp>
        <p:nvSpPr>
          <p:cNvPr id="12" name="TextBox 11">
            <a:extLst>
              <a:ext uri="{FF2B5EF4-FFF2-40B4-BE49-F238E27FC236}">
                <a16:creationId xmlns:a16="http://schemas.microsoft.com/office/drawing/2014/main" id="{C2434CC9-50AC-4539-AF71-ADFCB8C36EFE}"/>
              </a:ext>
            </a:extLst>
          </p:cNvPr>
          <p:cNvSpPr txBox="1"/>
          <p:nvPr/>
        </p:nvSpPr>
        <p:spPr>
          <a:xfrm>
            <a:off x="1577789" y="3727582"/>
            <a:ext cx="8453718" cy="1015663"/>
          </a:xfrm>
          <a:prstGeom prst="rect">
            <a:avLst/>
          </a:prstGeom>
          <a:noFill/>
        </p:spPr>
        <p:txBody>
          <a:bodyPr wrap="square" rtlCol="0">
            <a:spAutoFit/>
          </a:bodyPr>
          <a:lstStyle/>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Trains the Random Forest model using the prepared dataset.</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Learns the relationship between health parameters and risk level.</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Saves the trained model for prediction use.</a:t>
            </a:r>
          </a:p>
        </p:txBody>
      </p:sp>
      <p:sp>
        <p:nvSpPr>
          <p:cNvPr id="9" name="TextBox 8">
            <a:extLst>
              <a:ext uri="{FF2B5EF4-FFF2-40B4-BE49-F238E27FC236}">
                <a16:creationId xmlns:a16="http://schemas.microsoft.com/office/drawing/2014/main" id="{8C60F637-DFCC-44FF-BE6E-A0B62BA7418D}"/>
              </a:ext>
            </a:extLst>
          </p:cNvPr>
          <p:cNvSpPr txBox="1"/>
          <p:nvPr/>
        </p:nvSpPr>
        <p:spPr>
          <a:xfrm>
            <a:off x="1084731" y="1399971"/>
            <a:ext cx="4231340" cy="477054"/>
          </a:xfrm>
          <a:prstGeom prst="rect">
            <a:avLst/>
          </a:prstGeom>
          <a:noFill/>
        </p:spPr>
        <p:txBody>
          <a:bodyPr wrap="square" rtlCol="0">
            <a:spAutoFit/>
          </a:bodyPr>
          <a:lstStyle/>
          <a:p>
            <a:r>
              <a:rPr lang="en-US" sz="2500" b="1" dirty="0">
                <a:effectLst/>
                <a:latin typeface="Times New Roman" panose="02020603050405020304" pitchFamily="18" charset="0"/>
                <a:ea typeface="Times New Roman" panose="02020603050405020304" pitchFamily="18" charset="0"/>
              </a:rPr>
              <a:t>Model Selection Module</a:t>
            </a:r>
            <a:endParaRPr lang="en-IN" sz="2500" b="1" dirty="0"/>
          </a:p>
        </p:txBody>
      </p:sp>
      <p:sp>
        <p:nvSpPr>
          <p:cNvPr id="11" name="TextBox 10">
            <a:extLst>
              <a:ext uri="{FF2B5EF4-FFF2-40B4-BE49-F238E27FC236}">
                <a16:creationId xmlns:a16="http://schemas.microsoft.com/office/drawing/2014/main" id="{1B66F69F-AC4F-40C1-9148-2FDDD83D18D4}"/>
              </a:ext>
            </a:extLst>
          </p:cNvPr>
          <p:cNvSpPr txBox="1"/>
          <p:nvPr/>
        </p:nvSpPr>
        <p:spPr>
          <a:xfrm>
            <a:off x="1577789" y="1963274"/>
            <a:ext cx="8453718" cy="1015663"/>
          </a:xfrm>
          <a:prstGeom prst="rect">
            <a:avLst/>
          </a:prstGeom>
          <a:noFill/>
        </p:spPr>
        <p:txBody>
          <a:bodyPr wrap="square" rtlCol="0">
            <a:spAutoFit/>
          </a:bodyPr>
          <a:lstStyle/>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Trains multiple models: SVM, KNN, Linear, and Random Forest.</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Evaluates models using accuracy, recall, and F1-score.</a:t>
            </a:r>
          </a:p>
          <a:p>
            <a:pPr marL="342900" lvl="0" indent="-342900" algn="just">
              <a:buFont typeface="Wingdings" panose="05000000000000000000" pitchFamily="2" charset="2"/>
              <a:buChar char="Ø"/>
              <a:tabLst>
                <a:tab pos="457200" algn="l"/>
              </a:tabLst>
            </a:pPr>
            <a:r>
              <a:rPr lang="en-IN" sz="2000" dirty="0">
                <a:effectLst/>
                <a:latin typeface="Times New Roman" panose="02020603050405020304" pitchFamily="18" charset="0"/>
                <a:ea typeface="Times New Roman" panose="02020603050405020304" pitchFamily="18" charset="0"/>
              </a:rPr>
              <a:t>Selects Random Forest as the best-performing model.</a:t>
            </a:r>
          </a:p>
        </p:txBody>
      </p:sp>
    </p:spTree>
    <p:extLst>
      <p:ext uri="{BB962C8B-B14F-4D97-AF65-F5344CB8AC3E}">
        <p14:creationId xmlns:p14="http://schemas.microsoft.com/office/powerpoint/2010/main" val="2172577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6B6BF-D48D-4ACE-8846-532A82CD99E0}"/>
              </a:ext>
            </a:extLst>
          </p:cNvPr>
          <p:cNvSpPr>
            <a:spLocks noGrp="1"/>
          </p:cNvSpPr>
          <p:nvPr>
            <p:ph type="title"/>
          </p:nvPr>
        </p:nvSpPr>
        <p:spPr>
          <a:xfrm>
            <a:off x="215153" y="477502"/>
            <a:ext cx="11716871" cy="938922"/>
          </a:xfrm>
        </p:spPr>
        <p:txBody>
          <a:bodyPr>
            <a:normAutofit/>
          </a:bodyPr>
          <a:lstStyle/>
          <a:p>
            <a:pPr algn="ctr"/>
            <a:r>
              <a:rPr lang="en-IN" sz="3600" b="1" i="0" u="none" strike="noStrike" dirty="0">
                <a:solidFill>
                  <a:srgbClr val="000000"/>
                </a:solidFill>
                <a:effectLst/>
                <a:latin typeface="Times New Roman" panose="02020603050405020304" pitchFamily="18" charset="0"/>
              </a:rPr>
              <a:t>UML DIAGRAMS</a:t>
            </a:r>
            <a:endParaRPr lang="en-IN" sz="36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1BD64CF-3627-4560-9F5F-9B799421BBCC}"/>
              </a:ext>
            </a:extLst>
          </p:cNvPr>
          <p:cNvSpPr txBox="1"/>
          <p:nvPr/>
        </p:nvSpPr>
        <p:spPr>
          <a:xfrm>
            <a:off x="685800" y="1506071"/>
            <a:ext cx="3316941"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Class Diagram</a:t>
            </a:r>
          </a:p>
        </p:txBody>
      </p:sp>
      <p:pic>
        <p:nvPicPr>
          <p:cNvPr id="7" name="Picture 6">
            <a:extLst>
              <a:ext uri="{FF2B5EF4-FFF2-40B4-BE49-F238E27FC236}">
                <a16:creationId xmlns:a16="http://schemas.microsoft.com/office/drawing/2014/main" id="{DAF1D35D-0FE1-47BC-86F4-E7A9D6B76D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5242" y="1983125"/>
            <a:ext cx="8610601" cy="4543181"/>
          </a:xfrm>
          <a:prstGeom prst="rect">
            <a:avLst/>
          </a:prstGeom>
          <a:ln>
            <a:solidFill>
              <a:schemeClr val="tx1"/>
            </a:solidFill>
          </a:ln>
        </p:spPr>
      </p:pic>
    </p:spTree>
    <p:extLst>
      <p:ext uri="{BB962C8B-B14F-4D97-AF65-F5344CB8AC3E}">
        <p14:creationId xmlns:p14="http://schemas.microsoft.com/office/powerpoint/2010/main" val="978368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BD64CF-3627-4560-9F5F-9B799421BBCC}"/>
              </a:ext>
            </a:extLst>
          </p:cNvPr>
          <p:cNvSpPr txBox="1"/>
          <p:nvPr/>
        </p:nvSpPr>
        <p:spPr>
          <a:xfrm>
            <a:off x="685801" y="1506071"/>
            <a:ext cx="3169023" cy="477054"/>
          </a:xfrm>
          <a:prstGeom prst="rect">
            <a:avLst/>
          </a:prstGeom>
          <a:noFill/>
        </p:spPr>
        <p:txBody>
          <a:bodyPr wrap="square" rtlCol="0">
            <a:spAutoFit/>
          </a:bodyPr>
          <a:lstStyle/>
          <a:p>
            <a:r>
              <a:rPr lang="en-US" sz="2500" b="1" dirty="0"/>
              <a:t> Use Case </a:t>
            </a:r>
            <a:r>
              <a:rPr lang="en-US" sz="2500" b="1" dirty="0">
                <a:latin typeface="Times New Roman" panose="02020603050405020304" pitchFamily="18" charset="0"/>
                <a:cs typeface="Times New Roman" panose="02020603050405020304" pitchFamily="18" charset="0"/>
              </a:rPr>
              <a:t>Diagram</a:t>
            </a:r>
            <a:endParaRPr lang="en-IN" sz="25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918B90A4-B006-4011-BB2E-2FE9AC2D62F0}"/>
              </a:ext>
            </a:extLst>
          </p:cNvPr>
          <p:cNvPicPr>
            <a:picLocks noChangeAspect="1"/>
          </p:cNvPicPr>
          <p:nvPr/>
        </p:nvPicPr>
        <p:blipFill rotWithShape="1">
          <a:blip r:embed="rId2">
            <a:extLst>
              <a:ext uri="{28A0092B-C50C-407E-A947-70E740481C1C}">
                <a14:useLocalDpi xmlns:a14="http://schemas.microsoft.com/office/drawing/2010/main" val="0"/>
              </a:ext>
            </a:extLst>
          </a:blip>
          <a:srcRect r="16975"/>
          <a:stretch/>
        </p:blipFill>
        <p:spPr>
          <a:xfrm>
            <a:off x="4780661" y="1506071"/>
            <a:ext cx="5179127" cy="4841389"/>
          </a:xfrm>
          <a:prstGeom prst="rect">
            <a:avLst/>
          </a:prstGeom>
          <a:ln>
            <a:solidFill>
              <a:schemeClr val="tx1"/>
            </a:solidFill>
          </a:ln>
        </p:spPr>
      </p:pic>
    </p:spTree>
    <p:extLst>
      <p:ext uri="{BB962C8B-B14F-4D97-AF65-F5344CB8AC3E}">
        <p14:creationId xmlns:p14="http://schemas.microsoft.com/office/powerpoint/2010/main" val="2220017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6B6BF-D48D-4ACE-8846-532A82CD99E0}"/>
              </a:ext>
            </a:extLst>
          </p:cNvPr>
          <p:cNvSpPr>
            <a:spLocks noGrp="1"/>
          </p:cNvSpPr>
          <p:nvPr>
            <p:ph type="title"/>
          </p:nvPr>
        </p:nvSpPr>
        <p:spPr>
          <a:xfrm>
            <a:off x="161365" y="477502"/>
            <a:ext cx="11887200" cy="938922"/>
          </a:xfrm>
        </p:spPr>
        <p:txBody>
          <a:bodyPr>
            <a:normAutofit/>
          </a:bodyPr>
          <a:lstStyle/>
          <a:p>
            <a:pPr algn="ctr"/>
            <a:r>
              <a:rPr lang="en-US" sz="3600" b="1" dirty="0">
                <a:latin typeface="Times New Roman" panose="02020603050405020304" pitchFamily="18" charset="0"/>
                <a:cs typeface="Times New Roman" panose="02020603050405020304" pitchFamily="18" charset="0"/>
              </a:rPr>
              <a:t>Sequence Diagram</a:t>
            </a:r>
            <a:endParaRPr lang="en-US" sz="3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E9AB314-76C9-4128-BBC7-5C20FE934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7388" y="1801907"/>
            <a:ext cx="9000565" cy="4132728"/>
          </a:xfrm>
          <a:prstGeom prst="rect">
            <a:avLst/>
          </a:prstGeom>
          <a:ln>
            <a:solidFill>
              <a:schemeClr val="tx1"/>
            </a:solidFill>
          </a:ln>
        </p:spPr>
      </p:pic>
    </p:spTree>
    <p:extLst>
      <p:ext uri="{BB962C8B-B14F-4D97-AF65-F5344CB8AC3E}">
        <p14:creationId xmlns:p14="http://schemas.microsoft.com/office/powerpoint/2010/main" val="1588443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6B6BF-D48D-4ACE-8846-532A82CD99E0}"/>
              </a:ext>
            </a:extLst>
          </p:cNvPr>
          <p:cNvSpPr>
            <a:spLocks noGrp="1"/>
          </p:cNvSpPr>
          <p:nvPr>
            <p:ph type="title"/>
          </p:nvPr>
        </p:nvSpPr>
        <p:spPr>
          <a:xfrm>
            <a:off x="152399" y="477502"/>
            <a:ext cx="11851341" cy="938922"/>
          </a:xfrm>
        </p:spPr>
        <p:txBody>
          <a:bodyPr>
            <a:normAutofit/>
          </a:bodyPr>
          <a:lstStyle/>
          <a:p>
            <a:pPr algn="ctr"/>
            <a:r>
              <a:rPr lang="en-US" sz="3600" b="1" dirty="0"/>
              <a:t>Activity Diagram</a:t>
            </a:r>
          </a:p>
        </p:txBody>
      </p:sp>
      <p:pic>
        <p:nvPicPr>
          <p:cNvPr id="3" name="Picture 2">
            <a:extLst>
              <a:ext uri="{FF2B5EF4-FFF2-40B4-BE49-F238E27FC236}">
                <a16:creationId xmlns:a16="http://schemas.microsoft.com/office/drawing/2014/main" id="{BA24D69B-1BED-48D9-B333-5D7E9DD23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9341" y="1497105"/>
            <a:ext cx="5253317" cy="5026828"/>
          </a:xfrm>
          <a:prstGeom prst="rect">
            <a:avLst/>
          </a:prstGeom>
          <a:ln>
            <a:solidFill>
              <a:schemeClr val="tx1"/>
            </a:solidFill>
          </a:ln>
        </p:spPr>
      </p:pic>
    </p:spTree>
    <p:extLst>
      <p:ext uri="{BB962C8B-B14F-4D97-AF65-F5344CB8AC3E}">
        <p14:creationId xmlns:p14="http://schemas.microsoft.com/office/powerpoint/2010/main" val="26267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D4453A-25C1-4A7C-809B-5496CDA41CBE}"/>
              </a:ext>
            </a:extLst>
          </p:cNvPr>
          <p:cNvSpPr txBox="1"/>
          <p:nvPr/>
        </p:nvSpPr>
        <p:spPr>
          <a:xfrm>
            <a:off x="1107138" y="1303140"/>
            <a:ext cx="5280212"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Testing Plan</a:t>
            </a:r>
            <a:endParaRPr lang="en-IN" sz="2500" dirty="0"/>
          </a:p>
        </p:txBody>
      </p:sp>
      <p:sp>
        <p:nvSpPr>
          <p:cNvPr id="9" name="TextBox 8">
            <a:extLst>
              <a:ext uri="{FF2B5EF4-FFF2-40B4-BE49-F238E27FC236}">
                <a16:creationId xmlns:a16="http://schemas.microsoft.com/office/drawing/2014/main" id="{7AABB350-8C17-47B1-BB01-4D702B100422}"/>
              </a:ext>
            </a:extLst>
          </p:cNvPr>
          <p:cNvSpPr txBox="1"/>
          <p:nvPr/>
        </p:nvSpPr>
        <p:spPr>
          <a:xfrm>
            <a:off x="1107138" y="3247975"/>
            <a:ext cx="3500721" cy="477054"/>
          </a:xfrm>
          <a:prstGeom prst="rect">
            <a:avLst/>
          </a:prstGeom>
          <a:noFill/>
        </p:spPr>
        <p:txBody>
          <a:bodyPr wrap="square" rtlCol="0">
            <a:spAutoFit/>
          </a:bodyPr>
          <a:lstStyle/>
          <a:p>
            <a:r>
              <a:rPr lang="en-US" altLang="en-US" sz="2500" b="1" dirty="0">
                <a:latin typeface="Times New Roman" panose="02020603050405020304" pitchFamily="18" charset="0"/>
                <a:cs typeface="Times New Roman" panose="02020603050405020304" pitchFamily="18" charset="0"/>
              </a:rPr>
              <a:t>Unit Testing</a:t>
            </a:r>
            <a:endParaRPr lang="en-IN" sz="2500" dirty="0"/>
          </a:p>
        </p:txBody>
      </p:sp>
      <p:sp>
        <p:nvSpPr>
          <p:cNvPr id="10" name="TextBox 9">
            <a:extLst>
              <a:ext uri="{FF2B5EF4-FFF2-40B4-BE49-F238E27FC236}">
                <a16:creationId xmlns:a16="http://schemas.microsoft.com/office/drawing/2014/main" id="{DCF7F0A2-7E22-40D2-99EC-A8B034CCFD80}"/>
              </a:ext>
            </a:extLst>
          </p:cNvPr>
          <p:cNvSpPr txBox="1"/>
          <p:nvPr/>
        </p:nvSpPr>
        <p:spPr>
          <a:xfrm>
            <a:off x="1602437" y="3848139"/>
            <a:ext cx="9569826" cy="1631216"/>
          </a:xfrm>
          <a:prstGeom prst="rect">
            <a:avLst/>
          </a:prstGeom>
          <a:noFill/>
        </p:spPr>
        <p:txBody>
          <a:bodyPr wrap="square" rtlCol="0">
            <a:spAutoFit/>
          </a:bodyPr>
          <a:lstStyle/>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Tested user registration and login functions to ensure correct storage and authentication in SQLite database.</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Verified health input validation to check numeric conversion and error handling.</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Tested Random Forest prediction function to confirm correct output (Good / Medium / Risk).</a:t>
            </a:r>
          </a:p>
        </p:txBody>
      </p:sp>
      <p:sp>
        <p:nvSpPr>
          <p:cNvPr id="11" name="TextBox 10">
            <a:extLst>
              <a:ext uri="{FF2B5EF4-FFF2-40B4-BE49-F238E27FC236}">
                <a16:creationId xmlns:a16="http://schemas.microsoft.com/office/drawing/2014/main" id="{573E44C4-2F02-4346-B517-DA8F5700F004}"/>
              </a:ext>
            </a:extLst>
          </p:cNvPr>
          <p:cNvSpPr txBox="1"/>
          <p:nvPr/>
        </p:nvSpPr>
        <p:spPr>
          <a:xfrm>
            <a:off x="1602437" y="1924536"/>
            <a:ext cx="9569826" cy="132343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The testing plan for the Health Risk Prediction System defines the process used to verify that all components of the application function correctly and meet project requirements. It ensures that user authentication, health data processing, machine learning prediction, database storage, and report generation operate accurately and reliably.</a:t>
            </a:r>
            <a:endParaRPr lang="en-IN" sz="20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7B8F963F-79D2-4153-8883-99F9611C3BAD}"/>
              </a:ext>
            </a:extLst>
          </p:cNvPr>
          <p:cNvSpPr txBox="1"/>
          <p:nvPr/>
        </p:nvSpPr>
        <p:spPr>
          <a:xfrm>
            <a:off x="1107138" y="5361721"/>
            <a:ext cx="3500721" cy="477054"/>
          </a:xfrm>
          <a:prstGeom prst="rect">
            <a:avLst/>
          </a:prstGeom>
          <a:noFill/>
        </p:spPr>
        <p:txBody>
          <a:bodyPr wrap="square" rtlCol="0">
            <a:spAutoFit/>
          </a:bodyPr>
          <a:lstStyle/>
          <a:p>
            <a:r>
              <a:rPr lang="en-US" altLang="en-US" sz="2500" b="1" dirty="0">
                <a:latin typeface="Times New Roman" panose="02020603050405020304" pitchFamily="18" charset="0"/>
                <a:cs typeface="Times New Roman" panose="02020603050405020304" pitchFamily="18" charset="0"/>
              </a:rPr>
              <a:t>Integration Testing</a:t>
            </a:r>
            <a:endParaRPr lang="en-IN" sz="2500" dirty="0"/>
          </a:p>
        </p:txBody>
      </p:sp>
      <p:sp>
        <p:nvSpPr>
          <p:cNvPr id="8" name="TextBox 7">
            <a:extLst>
              <a:ext uri="{FF2B5EF4-FFF2-40B4-BE49-F238E27FC236}">
                <a16:creationId xmlns:a16="http://schemas.microsoft.com/office/drawing/2014/main" id="{F707744C-1249-4315-938C-4D533E817451}"/>
              </a:ext>
            </a:extLst>
          </p:cNvPr>
          <p:cNvSpPr txBox="1"/>
          <p:nvPr/>
        </p:nvSpPr>
        <p:spPr>
          <a:xfrm>
            <a:off x="1623732" y="5838775"/>
            <a:ext cx="8944536" cy="707886"/>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Tested Admin workflow for dataset upload, model training, and model saving.</a:t>
            </a:r>
          </a:p>
          <a:p>
            <a:pPr marL="342900" indent="-34290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Confirmed prediction results are properly stored and retrieved from the database.</a:t>
            </a:r>
          </a:p>
        </p:txBody>
      </p:sp>
      <p:sp>
        <p:nvSpPr>
          <p:cNvPr id="3" name="TextBox 2">
            <a:extLst>
              <a:ext uri="{FF2B5EF4-FFF2-40B4-BE49-F238E27FC236}">
                <a16:creationId xmlns:a16="http://schemas.microsoft.com/office/drawing/2014/main" id="{12F6D17D-1041-4FF1-A041-0F07A7964553}"/>
              </a:ext>
            </a:extLst>
          </p:cNvPr>
          <p:cNvSpPr txBox="1"/>
          <p:nvPr/>
        </p:nvSpPr>
        <p:spPr>
          <a:xfrm>
            <a:off x="62753" y="549088"/>
            <a:ext cx="1191409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TESTING</a:t>
            </a:r>
          </a:p>
        </p:txBody>
      </p:sp>
    </p:spTree>
    <p:extLst>
      <p:ext uri="{BB962C8B-B14F-4D97-AF65-F5344CB8AC3E}">
        <p14:creationId xmlns:p14="http://schemas.microsoft.com/office/powerpoint/2010/main" val="1144344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D4453A-25C1-4A7C-809B-5496CDA41CBE}"/>
              </a:ext>
            </a:extLst>
          </p:cNvPr>
          <p:cNvSpPr txBox="1"/>
          <p:nvPr/>
        </p:nvSpPr>
        <p:spPr>
          <a:xfrm>
            <a:off x="1196785" y="1278205"/>
            <a:ext cx="5280212"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System Plan</a:t>
            </a:r>
            <a:endParaRPr lang="en-IN" sz="2500" dirty="0"/>
          </a:p>
        </p:txBody>
      </p:sp>
      <p:sp>
        <p:nvSpPr>
          <p:cNvPr id="9" name="TextBox 8">
            <a:extLst>
              <a:ext uri="{FF2B5EF4-FFF2-40B4-BE49-F238E27FC236}">
                <a16:creationId xmlns:a16="http://schemas.microsoft.com/office/drawing/2014/main" id="{7AABB350-8C17-47B1-BB01-4D702B100422}"/>
              </a:ext>
            </a:extLst>
          </p:cNvPr>
          <p:cNvSpPr txBox="1"/>
          <p:nvPr/>
        </p:nvSpPr>
        <p:spPr>
          <a:xfrm>
            <a:off x="1107138" y="3335873"/>
            <a:ext cx="3500721" cy="477054"/>
          </a:xfrm>
          <a:prstGeom prst="rect">
            <a:avLst/>
          </a:prstGeom>
          <a:noFill/>
        </p:spPr>
        <p:txBody>
          <a:bodyPr wrap="square" rtlCol="0">
            <a:spAutoFit/>
          </a:bodyPr>
          <a:lstStyle/>
          <a:p>
            <a:r>
              <a:rPr lang="en-US" altLang="en-US" sz="2500" b="1" dirty="0">
                <a:latin typeface="Times New Roman" panose="02020603050405020304" pitchFamily="18" charset="0"/>
                <a:cs typeface="Times New Roman" panose="02020603050405020304" pitchFamily="18" charset="0"/>
              </a:rPr>
              <a:t>Functional Testing</a:t>
            </a:r>
            <a:endParaRPr lang="en-IN" sz="2500" dirty="0"/>
          </a:p>
        </p:txBody>
      </p:sp>
      <p:sp>
        <p:nvSpPr>
          <p:cNvPr id="10" name="TextBox 9">
            <a:extLst>
              <a:ext uri="{FF2B5EF4-FFF2-40B4-BE49-F238E27FC236}">
                <a16:creationId xmlns:a16="http://schemas.microsoft.com/office/drawing/2014/main" id="{DCF7F0A2-7E22-40D2-99EC-A8B034CCFD80}"/>
              </a:ext>
            </a:extLst>
          </p:cNvPr>
          <p:cNvSpPr txBox="1"/>
          <p:nvPr/>
        </p:nvSpPr>
        <p:spPr>
          <a:xfrm>
            <a:off x="1602436" y="3848139"/>
            <a:ext cx="9728951" cy="1015663"/>
          </a:xfrm>
          <a:prstGeom prst="rect">
            <a:avLst/>
          </a:prstGeom>
          <a:noFill/>
        </p:spPr>
        <p:txBody>
          <a:bodyPr wrap="square" rtlCol="0">
            <a:spAutoFit/>
          </a:bodyPr>
          <a:lstStyle/>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Verified login authentication for both User and Admin with valid and invalid credentials.</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Confirmed correct classification output (Good / Medium / Risk) based on user health data.</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Ensured user details and prediction history are correctly stored in SQLite.</a:t>
            </a:r>
          </a:p>
        </p:txBody>
      </p:sp>
      <p:sp>
        <p:nvSpPr>
          <p:cNvPr id="11" name="TextBox 10">
            <a:extLst>
              <a:ext uri="{FF2B5EF4-FFF2-40B4-BE49-F238E27FC236}">
                <a16:creationId xmlns:a16="http://schemas.microsoft.com/office/drawing/2014/main" id="{573E44C4-2F02-4346-B517-DA8F5700F004}"/>
              </a:ext>
            </a:extLst>
          </p:cNvPr>
          <p:cNvSpPr txBox="1"/>
          <p:nvPr/>
        </p:nvSpPr>
        <p:spPr>
          <a:xfrm>
            <a:off x="1602437" y="1729958"/>
            <a:ext cx="9569826" cy="1631216"/>
          </a:xfrm>
          <a:prstGeom prst="rect">
            <a:avLst/>
          </a:prstGeom>
          <a:noFill/>
        </p:spPr>
        <p:txBody>
          <a:bodyPr wrap="square" rtlCol="0">
            <a:spAutoFit/>
          </a:bodyPr>
          <a:lstStyle/>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Tested full user process: Register → Login → Enter Data → Predict → View Result → Download Report.</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Tested full admin process: Login → Train Model → View Performance → Manage User Records.</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Ensured the system runs smoothly without errors during complete execution.</a:t>
            </a:r>
          </a:p>
        </p:txBody>
      </p:sp>
      <p:sp>
        <p:nvSpPr>
          <p:cNvPr id="13" name="TextBox 12">
            <a:extLst>
              <a:ext uri="{FF2B5EF4-FFF2-40B4-BE49-F238E27FC236}">
                <a16:creationId xmlns:a16="http://schemas.microsoft.com/office/drawing/2014/main" id="{2D037640-D6EA-42D1-9C72-5EB1E5D7530D}"/>
              </a:ext>
            </a:extLst>
          </p:cNvPr>
          <p:cNvSpPr txBox="1"/>
          <p:nvPr/>
        </p:nvSpPr>
        <p:spPr>
          <a:xfrm>
            <a:off x="1107138" y="4863802"/>
            <a:ext cx="6181168" cy="477054"/>
          </a:xfrm>
          <a:prstGeom prst="rect">
            <a:avLst/>
          </a:prstGeom>
          <a:noFill/>
        </p:spPr>
        <p:txBody>
          <a:bodyPr wrap="square" rtlCol="0">
            <a:spAutoFit/>
          </a:bodyPr>
          <a:lstStyle/>
          <a:p>
            <a:r>
              <a:rPr lang="en-US" altLang="en-US" sz="2500" b="1" dirty="0">
                <a:latin typeface="Times New Roman" panose="02020603050405020304" pitchFamily="18" charset="0"/>
                <a:cs typeface="Times New Roman" panose="02020603050405020304" pitchFamily="18" charset="0"/>
              </a:rPr>
              <a:t>Performance &amp; Model Evaluation Testing</a:t>
            </a:r>
            <a:endParaRPr lang="en-IN" sz="2500" dirty="0"/>
          </a:p>
        </p:txBody>
      </p:sp>
      <p:sp>
        <p:nvSpPr>
          <p:cNvPr id="14" name="TextBox 13">
            <a:extLst>
              <a:ext uri="{FF2B5EF4-FFF2-40B4-BE49-F238E27FC236}">
                <a16:creationId xmlns:a16="http://schemas.microsoft.com/office/drawing/2014/main" id="{C70CF5FC-DC94-4F28-9FC4-A96CE55CF6C6}"/>
              </a:ext>
            </a:extLst>
          </p:cNvPr>
          <p:cNvSpPr txBox="1"/>
          <p:nvPr/>
        </p:nvSpPr>
        <p:spPr>
          <a:xfrm>
            <a:off x="1602435" y="5395187"/>
            <a:ext cx="9728951" cy="1323439"/>
          </a:xfrm>
          <a:prstGeom prst="rect">
            <a:avLst/>
          </a:prstGeom>
          <a:noFill/>
        </p:spPr>
        <p:txBody>
          <a:bodyPr wrap="square">
            <a:spAutoFit/>
          </a:bodyPr>
          <a:lstStyle/>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Compared SVM, KNN, Linear, and Random Forest algorithms.</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Evaluated model performance using Accuracy, Precision, Recall, and F1-Score.</a:t>
            </a:r>
          </a:p>
          <a:p>
            <a:pPr marL="285750" indent="-28575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Confirmed Random Forest was selected as the best-performing model and saved for prediction.</a:t>
            </a:r>
          </a:p>
        </p:txBody>
      </p:sp>
    </p:spTree>
    <p:extLst>
      <p:ext uri="{BB962C8B-B14F-4D97-AF65-F5344CB8AC3E}">
        <p14:creationId xmlns:p14="http://schemas.microsoft.com/office/powerpoint/2010/main" val="1221070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9A0A-8A28-4B38-AF55-AE72B15975B3}"/>
              </a:ext>
            </a:extLst>
          </p:cNvPr>
          <p:cNvSpPr>
            <a:spLocks noGrp="1"/>
          </p:cNvSpPr>
          <p:nvPr>
            <p:ph type="title"/>
          </p:nvPr>
        </p:nvSpPr>
        <p:spPr>
          <a:xfrm>
            <a:off x="143435" y="412378"/>
            <a:ext cx="11833412" cy="649942"/>
          </a:xfrm>
        </p:spPr>
        <p:txBody>
          <a:bodyPr>
            <a:normAutofit/>
          </a:bodyPr>
          <a:lstStyle/>
          <a:p>
            <a:pPr algn="ctr"/>
            <a:r>
              <a:rPr lang="en-IN" sz="3600" b="1" dirty="0">
                <a:latin typeface="Times New Roman" panose="02020603050405020304" pitchFamily="18" charset="0"/>
                <a:cs typeface="Times New Roman" panose="02020603050405020304" pitchFamily="18" charset="0"/>
              </a:rPr>
              <a:t>SCREENSHOTS</a:t>
            </a:r>
          </a:p>
        </p:txBody>
      </p:sp>
      <p:pic>
        <p:nvPicPr>
          <p:cNvPr id="5" name="Content Placeholder 4">
            <a:extLst>
              <a:ext uri="{FF2B5EF4-FFF2-40B4-BE49-F238E27FC236}">
                <a16:creationId xmlns:a16="http://schemas.microsoft.com/office/drawing/2014/main" id="{9E98BBCC-8D4E-42BE-9859-0BC1FA431A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6423" y="1416423"/>
            <a:ext cx="9726705" cy="5029199"/>
          </a:xfrm>
        </p:spPr>
      </p:pic>
      <p:sp>
        <p:nvSpPr>
          <p:cNvPr id="6" name="TextBox 5">
            <a:extLst>
              <a:ext uri="{FF2B5EF4-FFF2-40B4-BE49-F238E27FC236}">
                <a16:creationId xmlns:a16="http://schemas.microsoft.com/office/drawing/2014/main" id="{45FD393A-8388-483B-98A4-552FFD79A2DE}"/>
              </a:ext>
            </a:extLst>
          </p:cNvPr>
          <p:cNvSpPr txBox="1"/>
          <p:nvPr/>
        </p:nvSpPr>
        <p:spPr>
          <a:xfrm>
            <a:off x="6140823" y="5064620"/>
            <a:ext cx="4491319" cy="307777"/>
          </a:xfrm>
          <a:prstGeom prst="rect">
            <a:avLst/>
          </a:prstGeom>
          <a:noFill/>
        </p:spPr>
        <p:txBody>
          <a:bodyPr wrap="square" rtlCol="0">
            <a:spAutoFit/>
          </a:bodyPr>
          <a:lstStyle/>
          <a:p>
            <a:r>
              <a:rPr lang="en-IN" sz="1400" b="1" dirty="0">
                <a:solidFill>
                  <a:srgbClr val="FF0000"/>
                </a:solidFill>
                <a:highlight>
                  <a:srgbClr val="000080"/>
                </a:highlight>
              </a:rPr>
              <a:t>Open URL in any browser to access the webpage</a:t>
            </a:r>
          </a:p>
        </p:txBody>
      </p:sp>
      <p:sp>
        <p:nvSpPr>
          <p:cNvPr id="7" name="Arrow: Right 6">
            <a:extLst>
              <a:ext uri="{FF2B5EF4-FFF2-40B4-BE49-F238E27FC236}">
                <a16:creationId xmlns:a16="http://schemas.microsoft.com/office/drawing/2014/main" id="{D7E989F1-3A2E-4DE0-8440-F23A174A0EC9}"/>
              </a:ext>
            </a:extLst>
          </p:cNvPr>
          <p:cNvSpPr/>
          <p:nvPr/>
        </p:nvSpPr>
        <p:spPr>
          <a:xfrm rot="10800000">
            <a:off x="5555876" y="5064620"/>
            <a:ext cx="649942" cy="307776"/>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1209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218A0D-947F-4A41-8173-0AE54DCE8F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4353" y="1584325"/>
            <a:ext cx="9834281" cy="4699934"/>
          </a:xfrm>
        </p:spPr>
      </p:pic>
      <p:sp>
        <p:nvSpPr>
          <p:cNvPr id="6" name="TextBox 5">
            <a:extLst>
              <a:ext uri="{FF2B5EF4-FFF2-40B4-BE49-F238E27FC236}">
                <a16:creationId xmlns:a16="http://schemas.microsoft.com/office/drawing/2014/main" id="{30043EED-FD47-4235-B9C6-326B2FA0A918}"/>
              </a:ext>
            </a:extLst>
          </p:cNvPr>
          <p:cNvSpPr txBox="1"/>
          <p:nvPr/>
        </p:nvSpPr>
        <p:spPr>
          <a:xfrm>
            <a:off x="9502588" y="2680448"/>
            <a:ext cx="1389530" cy="646331"/>
          </a:xfrm>
          <a:prstGeom prst="rect">
            <a:avLst/>
          </a:prstGeom>
          <a:noFill/>
        </p:spPr>
        <p:txBody>
          <a:bodyPr wrap="square" rtlCol="0">
            <a:spAutoFit/>
          </a:bodyPr>
          <a:lstStyle/>
          <a:p>
            <a:r>
              <a:rPr lang="en-IN" b="1" dirty="0">
                <a:solidFill>
                  <a:srgbClr val="FF0000"/>
                </a:solidFill>
                <a:highlight>
                  <a:srgbClr val="000080"/>
                </a:highlight>
                <a:latin typeface="Times New Roman" panose="02020603050405020304" pitchFamily="18" charset="0"/>
                <a:cs typeface="Times New Roman" panose="02020603050405020304" pitchFamily="18" charset="0"/>
              </a:rPr>
              <a:t>Choose Login Type</a:t>
            </a:r>
          </a:p>
        </p:txBody>
      </p:sp>
    </p:spTree>
    <p:extLst>
      <p:ext uri="{BB962C8B-B14F-4D97-AF65-F5344CB8AC3E}">
        <p14:creationId xmlns:p14="http://schemas.microsoft.com/office/powerpoint/2010/main" val="2167111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B7535D-4B4F-42F0-9993-AB005EF495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8856" y="1503642"/>
            <a:ext cx="9410131" cy="4673040"/>
          </a:xfrm>
        </p:spPr>
      </p:pic>
      <p:sp>
        <p:nvSpPr>
          <p:cNvPr id="6" name="TextBox 5">
            <a:extLst>
              <a:ext uri="{FF2B5EF4-FFF2-40B4-BE49-F238E27FC236}">
                <a16:creationId xmlns:a16="http://schemas.microsoft.com/office/drawing/2014/main" id="{419380B7-32F6-4CDA-B9ED-6B55445D85E9}"/>
              </a:ext>
            </a:extLst>
          </p:cNvPr>
          <p:cNvSpPr txBox="1"/>
          <p:nvPr/>
        </p:nvSpPr>
        <p:spPr>
          <a:xfrm>
            <a:off x="8310283" y="4985026"/>
            <a:ext cx="3146612" cy="369332"/>
          </a:xfrm>
          <a:prstGeom prst="rect">
            <a:avLst/>
          </a:prstGeom>
          <a:noFill/>
        </p:spPr>
        <p:txBody>
          <a:bodyPr wrap="square" rtlCol="0">
            <a:spAutoFit/>
          </a:bodyPr>
          <a:lstStyle/>
          <a:p>
            <a:r>
              <a:rPr lang="en-IN" b="1" dirty="0">
                <a:solidFill>
                  <a:srgbClr val="FF0000"/>
                </a:solidFill>
                <a:highlight>
                  <a:srgbClr val="000080"/>
                </a:highlight>
                <a:latin typeface="Times New Roman" panose="02020603050405020304" pitchFamily="18" charset="0"/>
                <a:cs typeface="Times New Roman" panose="02020603050405020304" pitchFamily="18" charset="0"/>
              </a:rPr>
              <a:t>For User Sign Up Process</a:t>
            </a:r>
          </a:p>
        </p:txBody>
      </p:sp>
    </p:spTree>
    <p:extLst>
      <p:ext uri="{BB962C8B-B14F-4D97-AF65-F5344CB8AC3E}">
        <p14:creationId xmlns:p14="http://schemas.microsoft.com/office/powerpoint/2010/main" val="992221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1979DF-69AD-40F9-9D1A-7CBB197F4C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8183" y="1479178"/>
            <a:ext cx="9461864" cy="4801814"/>
          </a:xfrm>
        </p:spPr>
      </p:pic>
      <p:sp>
        <p:nvSpPr>
          <p:cNvPr id="6" name="TextBox 5">
            <a:extLst>
              <a:ext uri="{FF2B5EF4-FFF2-40B4-BE49-F238E27FC236}">
                <a16:creationId xmlns:a16="http://schemas.microsoft.com/office/drawing/2014/main" id="{2970F33C-73BC-418A-AA30-70664D7A20D4}"/>
              </a:ext>
            </a:extLst>
          </p:cNvPr>
          <p:cNvSpPr txBox="1"/>
          <p:nvPr/>
        </p:nvSpPr>
        <p:spPr>
          <a:xfrm>
            <a:off x="6096000" y="5459506"/>
            <a:ext cx="4697506" cy="369332"/>
          </a:xfrm>
          <a:prstGeom prst="rect">
            <a:avLst/>
          </a:prstGeom>
          <a:noFill/>
        </p:spPr>
        <p:txBody>
          <a:bodyPr wrap="square" rtlCol="0">
            <a:spAutoFit/>
          </a:bodyPr>
          <a:lstStyle/>
          <a:p>
            <a:r>
              <a:rPr lang="en-IN" b="1" dirty="0">
                <a:solidFill>
                  <a:srgbClr val="FF0000"/>
                </a:solidFill>
                <a:highlight>
                  <a:srgbClr val="000080"/>
                </a:highlight>
                <a:latin typeface="Times New Roman" panose="02020603050405020304" pitchFamily="18" charset="0"/>
                <a:cs typeface="Times New Roman" panose="02020603050405020304" pitchFamily="18" charset="0"/>
              </a:rPr>
              <a:t>After Sign Up Login the user Credentials</a:t>
            </a:r>
          </a:p>
        </p:txBody>
      </p:sp>
    </p:spTree>
    <p:extLst>
      <p:ext uri="{BB962C8B-B14F-4D97-AF65-F5344CB8AC3E}">
        <p14:creationId xmlns:p14="http://schemas.microsoft.com/office/powerpoint/2010/main" val="12976583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D32D43-86AE-451D-910B-0CD8531A64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7848" y="1326776"/>
            <a:ext cx="9383233" cy="4957483"/>
          </a:xfrm>
        </p:spPr>
      </p:pic>
      <p:sp>
        <p:nvSpPr>
          <p:cNvPr id="6" name="TextBox 5">
            <a:extLst>
              <a:ext uri="{FF2B5EF4-FFF2-40B4-BE49-F238E27FC236}">
                <a16:creationId xmlns:a16="http://schemas.microsoft.com/office/drawing/2014/main" id="{684CE49E-130E-4BE3-ADDD-15F8A28E02FD}"/>
              </a:ext>
            </a:extLst>
          </p:cNvPr>
          <p:cNvSpPr txBox="1"/>
          <p:nvPr/>
        </p:nvSpPr>
        <p:spPr>
          <a:xfrm flipH="1">
            <a:off x="6984399" y="4769223"/>
            <a:ext cx="2500259" cy="369332"/>
          </a:xfrm>
          <a:prstGeom prst="rect">
            <a:avLst/>
          </a:prstGeom>
          <a:noFill/>
        </p:spPr>
        <p:txBody>
          <a:bodyPr wrap="square" rtlCol="0">
            <a:spAutoFit/>
          </a:bodyPr>
          <a:lstStyle/>
          <a:p>
            <a:r>
              <a:rPr lang="en-IN" b="1" dirty="0">
                <a:solidFill>
                  <a:srgbClr val="FF0000"/>
                </a:solidFill>
                <a:highlight>
                  <a:srgbClr val="000080"/>
                </a:highlight>
              </a:rPr>
              <a:t>Fill the Health Details</a:t>
            </a:r>
          </a:p>
        </p:txBody>
      </p:sp>
    </p:spTree>
    <p:extLst>
      <p:ext uri="{BB962C8B-B14F-4D97-AF65-F5344CB8AC3E}">
        <p14:creationId xmlns:p14="http://schemas.microsoft.com/office/powerpoint/2010/main" val="3749855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856C64B-DD30-4A91-A9B2-7F13F2A644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5011" y="1346420"/>
            <a:ext cx="9392283" cy="5077665"/>
          </a:xfrm>
        </p:spPr>
      </p:pic>
      <p:sp>
        <p:nvSpPr>
          <p:cNvPr id="6" name="TextBox 5">
            <a:extLst>
              <a:ext uri="{FF2B5EF4-FFF2-40B4-BE49-F238E27FC236}">
                <a16:creationId xmlns:a16="http://schemas.microsoft.com/office/drawing/2014/main" id="{F9B4F5CC-D3C6-42FA-9BC5-3DC385D6F994}"/>
              </a:ext>
            </a:extLst>
          </p:cNvPr>
          <p:cNvSpPr txBox="1"/>
          <p:nvPr/>
        </p:nvSpPr>
        <p:spPr>
          <a:xfrm flipH="1">
            <a:off x="6983036" y="4562164"/>
            <a:ext cx="3593953" cy="646331"/>
          </a:xfrm>
          <a:prstGeom prst="rect">
            <a:avLst/>
          </a:prstGeom>
          <a:noFill/>
        </p:spPr>
        <p:txBody>
          <a:bodyPr wrap="square" rtlCol="0">
            <a:spAutoFit/>
          </a:bodyPr>
          <a:lstStyle/>
          <a:p>
            <a:pPr algn="ctr"/>
            <a:r>
              <a:rPr lang="en-IN" b="1" dirty="0">
                <a:solidFill>
                  <a:srgbClr val="FF0000"/>
                </a:solidFill>
                <a:highlight>
                  <a:srgbClr val="000080"/>
                </a:highlight>
                <a:latin typeface="Times New Roman" panose="02020603050405020304" pitchFamily="18" charset="0"/>
                <a:cs typeface="Times New Roman" panose="02020603050405020304" pitchFamily="18" charset="0"/>
              </a:rPr>
              <a:t>XAI Health Suggestions for Health &amp; Result Status</a:t>
            </a:r>
          </a:p>
        </p:txBody>
      </p:sp>
    </p:spTree>
    <p:extLst>
      <p:ext uri="{BB962C8B-B14F-4D97-AF65-F5344CB8AC3E}">
        <p14:creationId xmlns:p14="http://schemas.microsoft.com/office/powerpoint/2010/main" val="1262665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769EB77-459B-4086-8A93-E22D338CB2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5059" y="1826372"/>
            <a:ext cx="10022541" cy="4448922"/>
          </a:xfrm>
        </p:spPr>
      </p:pic>
      <p:sp>
        <p:nvSpPr>
          <p:cNvPr id="6" name="TextBox 5">
            <a:extLst>
              <a:ext uri="{FF2B5EF4-FFF2-40B4-BE49-F238E27FC236}">
                <a16:creationId xmlns:a16="http://schemas.microsoft.com/office/drawing/2014/main" id="{4F8B88CE-2CBD-43A9-8EFB-79F8D7C1325C}"/>
              </a:ext>
            </a:extLst>
          </p:cNvPr>
          <p:cNvSpPr txBox="1"/>
          <p:nvPr/>
        </p:nvSpPr>
        <p:spPr>
          <a:xfrm flipH="1">
            <a:off x="8051202" y="5280211"/>
            <a:ext cx="2742304" cy="369332"/>
          </a:xfrm>
          <a:prstGeom prst="rect">
            <a:avLst/>
          </a:prstGeom>
          <a:noFill/>
        </p:spPr>
        <p:txBody>
          <a:bodyPr wrap="square" rtlCol="0">
            <a:spAutoFit/>
          </a:bodyPr>
          <a:lstStyle/>
          <a:p>
            <a:r>
              <a:rPr lang="en-IN" dirty="0">
                <a:solidFill>
                  <a:srgbClr val="FF0000"/>
                </a:solidFill>
                <a:highlight>
                  <a:srgbClr val="000080"/>
                </a:highlight>
                <a:latin typeface="Times New Roman" panose="02020603050405020304" pitchFamily="18" charset="0"/>
                <a:cs typeface="Times New Roman" panose="02020603050405020304" pitchFamily="18" charset="0"/>
              </a:rPr>
              <a:t>Login Admin Credentials</a:t>
            </a:r>
          </a:p>
        </p:txBody>
      </p:sp>
    </p:spTree>
    <p:extLst>
      <p:ext uri="{BB962C8B-B14F-4D97-AF65-F5344CB8AC3E}">
        <p14:creationId xmlns:p14="http://schemas.microsoft.com/office/powerpoint/2010/main" val="2338272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21A0B572-41E3-44EE-B1ED-C5DD20396A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3659" y="1965325"/>
            <a:ext cx="9980121" cy="4024313"/>
          </a:xfrm>
        </p:spPr>
      </p:pic>
      <p:sp>
        <p:nvSpPr>
          <p:cNvPr id="9" name="TextBox 8">
            <a:extLst>
              <a:ext uri="{FF2B5EF4-FFF2-40B4-BE49-F238E27FC236}">
                <a16:creationId xmlns:a16="http://schemas.microsoft.com/office/drawing/2014/main" id="{A78DA821-F690-4F5C-9B9A-1BDC8E2E84F7}"/>
              </a:ext>
            </a:extLst>
          </p:cNvPr>
          <p:cNvSpPr txBox="1"/>
          <p:nvPr/>
        </p:nvSpPr>
        <p:spPr>
          <a:xfrm>
            <a:off x="7953264" y="2886635"/>
            <a:ext cx="2734235" cy="369332"/>
          </a:xfrm>
          <a:prstGeom prst="rect">
            <a:avLst/>
          </a:prstGeom>
          <a:noFill/>
        </p:spPr>
        <p:txBody>
          <a:bodyPr wrap="square" rtlCol="0">
            <a:spAutoFit/>
          </a:bodyPr>
          <a:lstStyle/>
          <a:p>
            <a:r>
              <a:rPr lang="en-IN" b="1" dirty="0">
                <a:solidFill>
                  <a:srgbClr val="FF0000"/>
                </a:solidFill>
                <a:highlight>
                  <a:srgbClr val="000080"/>
                </a:highlight>
                <a:latin typeface="Times New Roman" panose="02020603050405020304" pitchFamily="18" charset="0"/>
                <a:cs typeface="Times New Roman" panose="02020603050405020304" pitchFamily="18" charset="0"/>
              </a:rPr>
              <a:t>For Admin Dashboard</a:t>
            </a:r>
          </a:p>
        </p:txBody>
      </p:sp>
    </p:spTree>
    <p:extLst>
      <p:ext uri="{BB962C8B-B14F-4D97-AF65-F5344CB8AC3E}">
        <p14:creationId xmlns:p14="http://schemas.microsoft.com/office/powerpoint/2010/main" val="4092487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CB7DA34-99F7-441D-B664-9E62FCB213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1865" y="1822725"/>
            <a:ext cx="9508863" cy="4296135"/>
          </a:xfrm>
        </p:spPr>
      </p:pic>
      <p:sp>
        <p:nvSpPr>
          <p:cNvPr id="13" name="TextBox 12">
            <a:extLst>
              <a:ext uri="{FF2B5EF4-FFF2-40B4-BE49-F238E27FC236}">
                <a16:creationId xmlns:a16="http://schemas.microsoft.com/office/drawing/2014/main" id="{F98A90A2-2892-4ED1-94C5-7D3F45B6C823}"/>
              </a:ext>
            </a:extLst>
          </p:cNvPr>
          <p:cNvSpPr txBox="1"/>
          <p:nvPr/>
        </p:nvSpPr>
        <p:spPr>
          <a:xfrm>
            <a:off x="6721736" y="4610100"/>
            <a:ext cx="3263153" cy="646331"/>
          </a:xfrm>
          <a:prstGeom prst="rect">
            <a:avLst/>
          </a:prstGeom>
          <a:noFill/>
        </p:spPr>
        <p:txBody>
          <a:bodyPr wrap="square" rtlCol="0">
            <a:spAutoFit/>
          </a:bodyPr>
          <a:lstStyle/>
          <a:p>
            <a:pPr algn="ctr"/>
            <a:r>
              <a:rPr lang="en-IN" dirty="0">
                <a:solidFill>
                  <a:srgbClr val="FF0000"/>
                </a:solidFill>
                <a:highlight>
                  <a:srgbClr val="000080"/>
                </a:highlight>
                <a:latin typeface="Times New Roman" panose="02020603050405020304" pitchFamily="18" charset="0"/>
                <a:cs typeface="Times New Roman" panose="02020603050405020304" pitchFamily="18" charset="0"/>
              </a:rPr>
              <a:t>Model Performance for Trained Model</a:t>
            </a:r>
          </a:p>
        </p:txBody>
      </p:sp>
    </p:spTree>
    <p:extLst>
      <p:ext uri="{BB962C8B-B14F-4D97-AF65-F5344CB8AC3E}">
        <p14:creationId xmlns:p14="http://schemas.microsoft.com/office/powerpoint/2010/main" val="2868026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0CC4B-46F7-4DED-99E9-3B09287AEC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596" y="1413998"/>
            <a:ext cx="7411263" cy="3265578"/>
          </a:xfrm>
        </p:spPr>
      </p:pic>
      <p:sp>
        <p:nvSpPr>
          <p:cNvPr id="8" name="TextBox 7">
            <a:extLst>
              <a:ext uri="{FF2B5EF4-FFF2-40B4-BE49-F238E27FC236}">
                <a16:creationId xmlns:a16="http://schemas.microsoft.com/office/drawing/2014/main" id="{7A07CA4B-09A0-4368-A844-C50CB2AA66D0}"/>
              </a:ext>
            </a:extLst>
          </p:cNvPr>
          <p:cNvSpPr txBox="1"/>
          <p:nvPr/>
        </p:nvSpPr>
        <p:spPr>
          <a:xfrm>
            <a:off x="4796117" y="1413998"/>
            <a:ext cx="3021106" cy="646331"/>
          </a:xfrm>
          <a:prstGeom prst="rect">
            <a:avLst/>
          </a:prstGeom>
          <a:noFill/>
        </p:spPr>
        <p:txBody>
          <a:bodyPr wrap="square" rtlCol="0">
            <a:spAutoFit/>
          </a:bodyPr>
          <a:lstStyle/>
          <a:p>
            <a:pPr algn="ctr"/>
            <a:r>
              <a:rPr lang="en-IN" b="1" dirty="0">
                <a:solidFill>
                  <a:srgbClr val="FF0000"/>
                </a:solidFill>
                <a:highlight>
                  <a:srgbClr val="000080"/>
                </a:highlight>
                <a:latin typeface="Times New Roman" panose="02020603050405020304" pitchFamily="18" charset="0"/>
                <a:cs typeface="Times New Roman" panose="02020603050405020304" pitchFamily="18" charset="0"/>
              </a:rPr>
              <a:t>Download Report for User Details</a:t>
            </a:r>
          </a:p>
        </p:txBody>
      </p:sp>
      <p:pic>
        <p:nvPicPr>
          <p:cNvPr id="10" name="Picture 9">
            <a:extLst>
              <a:ext uri="{FF2B5EF4-FFF2-40B4-BE49-F238E27FC236}">
                <a16:creationId xmlns:a16="http://schemas.microsoft.com/office/drawing/2014/main" id="{0FBCE826-CC90-4AC0-B915-55DE0A7CD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5859" y="2505634"/>
            <a:ext cx="4291545" cy="4235823"/>
          </a:xfrm>
          <a:prstGeom prst="rect">
            <a:avLst/>
          </a:prstGeom>
        </p:spPr>
      </p:pic>
    </p:spTree>
    <p:extLst>
      <p:ext uri="{BB962C8B-B14F-4D97-AF65-F5344CB8AC3E}">
        <p14:creationId xmlns:p14="http://schemas.microsoft.com/office/powerpoint/2010/main" val="1274045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5FA00370-A864-4748-AE59-8AB41AC375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1858" y="1461247"/>
            <a:ext cx="5063154" cy="2752166"/>
          </a:xfrm>
        </p:spPr>
      </p:pic>
      <p:sp>
        <p:nvSpPr>
          <p:cNvPr id="20" name="TextBox 19">
            <a:extLst>
              <a:ext uri="{FF2B5EF4-FFF2-40B4-BE49-F238E27FC236}">
                <a16:creationId xmlns:a16="http://schemas.microsoft.com/office/drawing/2014/main" id="{5FD992CC-94BB-4BF1-B3E8-DE3DC25D4FAE}"/>
              </a:ext>
            </a:extLst>
          </p:cNvPr>
          <p:cNvSpPr txBox="1"/>
          <p:nvPr/>
        </p:nvSpPr>
        <p:spPr>
          <a:xfrm>
            <a:off x="2480198" y="2514164"/>
            <a:ext cx="3615802" cy="646331"/>
          </a:xfrm>
          <a:prstGeom prst="rect">
            <a:avLst/>
          </a:prstGeom>
          <a:noFill/>
        </p:spPr>
        <p:txBody>
          <a:bodyPr wrap="square" rtlCol="0">
            <a:spAutoFit/>
          </a:bodyPr>
          <a:lstStyle/>
          <a:p>
            <a:pPr algn="ctr"/>
            <a:r>
              <a:rPr lang="en-IN" b="1" dirty="0">
                <a:solidFill>
                  <a:srgbClr val="FF0000"/>
                </a:solidFill>
                <a:highlight>
                  <a:srgbClr val="000080"/>
                </a:highlight>
                <a:latin typeface="Times New Roman" panose="02020603050405020304" pitchFamily="18" charset="0"/>
                <a:cs typeface="Times New Roman" panose="02020603050405020304" pitchFamily="18" charset="0"/>
              </a:rPr>
              <a:t>Download the Health Report Individual (pdf)</a:t>
            </a:r>
          </a:p>
        </p:txBody>
      </p:sp>
      <p:pic>
        <p:nvPicPr>
          <p:cNvPr id="22" name="Picture 21">
            <a:extLst>
              <a:ext uri="{FF2B5EF4-FFF2-40B4-BE49-F238E27FC236}">
                <a16:creationId xmlns:a16="http://schemas.microsoft.com/office/drawing/2014/main" id="{EB9A7095-1257-4A13-A800-6E5486E703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8832" y="3833770"/>
            <a:ext cx="6309361" cy="2696570"/>
          </a:xfrm>
          <a:prstGeom prst="rect">
            <a:avLst/>
          </a:prstGeom>
        </p:spPr>
      </p:pic>
      <p:sp>
        <p:nvSpPr>
          <p:cNvPr id="23" name="TextBox 22">
            <a:extLst>
              <a:ext uri="{FF2B5EF4-FFF2-40B4-BE49-F238E27FC236}">
                <a16:creationId xmlns:a16="http://schemas.microsoft.com/office/drawing/2014/main" id="{AE2822C0-A9D6-45CD-9368-4E5390EF227B}"/>
              </a:ext>
            </a:extLst>
          </p:cNvPr>
          <p:cNvSpPr txBox="1"/>
          <p:nvPr/>
        </p:nvSpPr>
        <p:spPr>
          <a:xfrm>
            <a:off x="8404860" y="5463540"/>
            <a:ext cx="2491740" cy="646331"/>
          </a:xfrm>
          <a:prstGeom prst="rect">
            <a:avLst/>
          </a:prstGeom>
          <a:noFill/>
        </p:spPr>
        <p:txBody>
          <a:bodyPr wrap="square" rtlCol="0">
            <a:spAutoFit/>
          </a:bodyPr>
          <a:lstStyle/>
          <a:p>
            <a:pPr algn="ctr"/>
            <a:r>
              <a:rPr lang="en-IN" dirty="0">
                <a:solidFill>
                  <a:srgbClr val="FF0000"/>
                </a:solidFill>
                <a:highlight>
                  <a:srgbClr val="000080"/>
                </a:highlight>
                <a:latin typeface="Times New Roman" panose="02020603050405020304" pitchFamily="18" charset="0"/>
                <a:cs typeface="Times New Roman" panose="02020603050405020304" pitchFamily="18" charset="0"/>
              </a:rPr>
              <a:t>Download All Users Details</a:t>
            </a:r>
          </a:p>
        </p:txBody>
      </p:sp>
    </p:spTree>
    <p:extLst>
      <p:ext uri="{BB962C8B-B14F-4D97-AF65-F5344CB8AC3E}">
        <p14:creationId xmlns:p14="http://schemas.microsoft.com/office/powerpoint/2010/main" val="3303587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464A10F-2BF6-4E6C-A9F2-134B638F0157}"/>
              </a:ext>
            </a:extLst>
          </p:cNvPr>
          <p:cNvSpPr>
            <a:spLocks noGrp="1"/>
          </p:cNvSpPr>
          <p:nvPr>
            <p:ph idx="1"/>
          </p:nvPr>
        </p:nvSpPr>
        <p:spPr>
          <a:xfrm>
            <a:off x="990600" y="2294965"/>
            <a:ext cx="10820400" cy="3442896"/>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	The Health Risk Prediction System was successfully developed using Flask, Machine Learning, and an SQLite database. The system allows users to enter health details and receive a prediction result classified as Good, Medium, or Risk. Different machine learning models were evaluated, and Random Forest was selected based on its superior performance. The Admin module supports model training, dataset management, and monitoring of user records. Overall, the system provides a reliable, accurate, and user-friendly solution for health risk.</a:t>
            </a: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5737B53-07E1-4EA3-B582-186B46074049}"/>
              </a:ext>
            </a:extLst>
          </p:cNvPr>
          <p:cNvSpPr txBox="1"/>
          <p:nvPr/>
        </p:nvSpPr>
        <p:spPr>
          <a:xfrm>
            <a:off x="197223" y="1120139"/>
            <a:ext cx="11806517"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4045787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5737B53-07E1-4EA3-B582-186B46074049}"/>
              </a:ext>
            </a:extLst>
          </p:cNvPr>
          <p:cNvSpPr txBox="1"/>
          <p:nvPr/>
        </p:nvSpPr>
        <p:spPr>
          <a:xfrm>
            <a:off x="165847" y="845349"/>
            <a:ext cx="11860306"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Future Enhancement</a:t>
            </a:r>
          </a:p>
        </p:txBody>
      </p:sp>
      <p:sp>
        <p:nvSpPr>
          <p:cNvPr id="3" name="TextBox 2">
            <a:extLst>
              <a:ext uri="{FF2B5EF4-FFF2-40B4-BE49-F238E27FC236}">
                <a16:creationId xmlns:a16="http://schemas.microsoft.com/office/drawing/2014/main" id="{292E922B-297C-4F26-BBC2-31A08B9309C0}"/>
              </a:ext>
            </a:extLst>
          </p:cNvPr>
          <p:cNvSpPr txBox="1"/>
          <p:nvPr/>
        </p:nvSpPr>
        <p:spPr>
          <a:xfrm>
            <a:off x="783067" y="2106706"/>
            <a:ext cx="4506109" cy="461665"/>
          </a:xfrm>
          <a:prstGeom prst="rect">
            <a:avLst/>
          </a:prstGeom>
          <a:noFill/>
        </p:spPr>
        <p:txBody>
          <a:bodyPr wrap="square" rtlCol="0">
            <a:spAutoFit/>
          </a:bodyPr>
          <a:lstStyle/>
          <a:p>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Real-Time Sensor Integration</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4C8C278-403D-466F-9421-7B3BC252468F}"/>
              </a:ext>
            </a:extLst>
          </p:cNvPr>
          <p:cNvSpPr txBox="1"/>
          <p:nvPr/>
        </p:nvSpPr>
        <p:spPr>
          <a:xfrm>
            <a:off x="1523998" y="2568371"/>
            <a:ext cx="10040472" cy="1015663"/>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Currently, users manually enter health data. In the future, the system can be connected to wearable devices (like smartwatches or IoT sensors) to automatically collect heart rate, oxygen level, and other health parameters.</a:t>
            </a:r>
          </a:p>
        </p:txBody>
      </p:sp>
      <p:sp>
        <p:nvSpPr>
          <p:cNvPr id="6" name="TextBox 5">
            <a:extLst>
              <a:ext uri="{FF2B5EF4-FFF2-40B4-BE49-F238E27FC236}">
                <a16:creationId xmlns:a16="http://schemas.microsoft.com/office/drawing/2014/main" id="{AC4BD7CC-CC62-4314-8FFF-CDDCEB5BF04F}"/>
              </a:ext>
            </a:extLst>
          </p:cNvPr>
          <p:cNvSpPr txBox="1"/>
          <p:nvPr/>
        </p:nvSpPr>
        <p:spPr>
          <a:xfrm>
            <a:off x="890643" y="3643246"/>
            <a:ext cx="4631615" cy="461665"/>
          </a:xfrm>
          <a:prstGeom prst="rect">
            <a:avLst/>
          </a:prstGeom>
          <a:noFill/>
        </p:spPr>
        <p:txBody>
          <a:bodyPr wrap="square" rtlCol="0">
            <a:spAutoFit/>
          </a:bodyPr>
          <a:lstStyle/>
          <a:p>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Enhanced Security Features</a:t>
            </a:r>
            <a:endParaRPr lang="en-IN"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EBCC573-9958-4229-9B79-8798005DC686}"/>
              </a:ext>
            </a:extLst>
          </p:cNvPr>
          <p:cNvSpPr txBox="1"/>
          <p:nvPr/>
        </p:nvSpPr>
        <p:spPr>
          <a:xfrm>
            <a:off x="1523998" y="4225062"/>
            <a:ext cx="10040472" cy="707886"/>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Future versions can include password encryption, role-based access control, and secure authentication mechanisms for better data protection.</a:t>
            </a:r>
          </a:p>
        </p:txBody>
      </p:sp>
      <p:sp>
        <p:nvSpPr>
          <p:cNvPr id="12" name="TextBox 11">
            <a:extLst>
              <a:ext uri="{FF2B5EF4-FFF2-40B4-BE49-F238E27FC236}">
                <a16:creationId xmlns:a16="http://schemas.microsoft.com/office/drawing/2014/main" id="{C41D4A12-73FE-4811-8D85-B70BB996AC1F}"/>
              </a:ext>
            </a:extLst>
          </p:cNvPr>
          <p:cNvSpPr txBox="1"/>
          <p:nvPr/>
        </p:nvSpPr>
        <p:spPr>
          <a:xfrm>
            <a:off x="857474" y="5043102"/>
            <a:ext cx="5002306" cy="461665"/>
          </a:xfrm>
          <a:prstGeom prst="rect">
            <a:avLst/>
          </a:prstGeom>
          <a:noFill/>
        </p:spPr>
        <p:txBody>
          <a:bodyPr wrap="square" rtlCol="0">
            <a:spAutoFit/>
          </a:bodyPr>
          <a:lstStyle/>
          <a:p>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Mobile Application Development</a:t>
            </a:r>
            <a:endParaRPr lang="en-IN"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DB0E85E-6540-454B-9828-F26CC896F67E}"/>
              </a:ext>
            </a:extLst>
          </p:cNvPr>
          <p:cNvSpPr txBox="1"/>
          <p:nvPr/>
        </p:nvSpPr>
        <p:spPr>
          <a:xfrm flipH="1">
            <a:off x="1577786" y="5614921"/>
            <a:ext cx="9646025" cy="707886"/>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dirty="0">
                <a:effectLst/>
                <a:latin typeface="Times New Roman" panose="02020603050405020304" pitchFamily="18" charset="0"/>
                <a:ea typeface="Times New Roman" panose="02020603050405020304" pitchFamily="18" charset="0"/>
              </a:rPr>
              <a:t>A mobile app version can be developed to make the system more accessible and user-friendly for daily health monitoring.</a:t>
            </a:r>
          </a:p>
        </p:txBody>
      </p:sp>
    </p:spTree>
    <p:extLst>
      <p:ext uri="{BB962C8B-B14F-4D97-AF65-F5344CB8AC3E}">
        <p14:creationId xmlns:p14="http://schemas.microsoft.com/office/powerpoint/2010/main" val="2054163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464A10F-2BF6-4E6C-A9F2-134B638F0157}"/>
              </a:ext>
            </a:extLst>
          </p:cNvPr>
          <p:cNvSpPr>
            <a:spLocks noGrp="1"/>
          </p:cNvSpPr>
          <p:nvPr>
            <p:ph idx="1"/>
          </p:nvPr>
        </p:nvSpPr>
        <p:spPr>
          <a:xfrm>
            <a:off x="990600" y="1461248"/>
            <a:ext cx="10618694" cy="4849906"/>
          </a:xfrm>
        </p:spPr>
        <p:txBody>
          <a:bodyPr>
            <a:noAutofit/>
          </a:bodyPr>
          <a:lstStyle/>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1] A. Bose et al., “Machine learning-based predictive model for health status classification,” Computers in Biology and Medicine, vol. 175, 108765, 2025.</a:t>
            </a:r>
            <a:r>
              <a:rPr lang="en-IN" sz="1800" kern="100" dirty="0">
                <a:latin typeface="Aptos"/>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This paper proposes a machine learning model for classifying patient health status using clinical data.</a:t>
            </a:r>
            <a:endParaRPr lang="en-IN" sz="1800" kern="100" dirty="0">
              <a:effectLst/>
              <a:latin typeface="Aptos"/>
              <a:ea typeface="Aptos"/>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[2] R. Jain et al., “Data-driven healthcare prediction using Random Forest algorithm,” Expert Systems with Applications, vol. 240, 121234, 2025.</a:t>
            </a:r>
            <a:r>
              <a:rPr lang="en-IN" sz="1800" kern="100" dirty="0">
                <a:latin typeface="Aptos"/>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authors developed a healthcare prediction system using the Random Forest algorithm.</a:t>
            </a:r>
            <a:endParaRPr lang="en-IN" sz="1800" kern="100" dirty="0">
              <a:effectLst/>
              <a:latin typeface="Aptos"/>
              <a:ea typeface="Aptos"/>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[3] N. Das et al., “Health monitoring system using machine learning and web technologies,” International Journal of Advanced Computer Science and Applications, vol. 16, no. 2, 2024.</a:t>
            </a:r>
            <a:r>
              <a:rPr lang="en-IN" sz="1800" kern="100" dirty="0">
                <a:latin typeface="Aptos"/>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This paper presents a web-based health monitoring system integrating machine learning techniques.</a:t>
            </a:r>
            <a:endParaRPr lang="en-IN" sz="1800" kern="100" dirty="0">
              <a:effectLst/>
              <a:latin typeface="Aptos"/>
              <a:ea typeface="Aptos"/>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[4] D. Mehta et al., “Early disease prediction using machine learning algorithms,” Applied Intelligence, vol. 53, pp. 1123–1135, 2024.</a:t>
            </a:r>
            <a:r>
              <a:rPr lang="en-IN" sz="1800" kern="100" dirty="0">
                <a:latin typeface="Aptos"/>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study focuses on early disease detection using algorithms such as SVM, Decision Tree, and Logistic Regression.</a:t>
            </a:r>
            <a:endParaRPr lang="en-IN" sz="1800" kern="100" dirty="0">
              <a:effectLst/>
              <a:latin typeface="Aptos"/>
              <a:ea typeface="Aptos"/>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[5] V. Rao et al., “Performance evaluation of classification algorithms for health prediction,” Procedia Computer Science, vol. 225, pp. 1456–1465, 2023.</a:t>
            </a:r>
            <a:r>
              <a:rPr lang="en-IN" sz="1800" kern="100" dirty="0">
                <a:latin typeface="Aptos"/>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This paper compares various classification algorithms based on performance metrics like accuracy and recall.</a:t>
            </a:r>
            <a:endParaRPr lang="en-IN" sz="1800" kern="100" dirty="0">
              <a:effectLst/>
              <a:latin typeface="Aptos"/>
              <a:ea typeface="Aptos"/>
              <a:cs typeface="Times New Roman" panose="02020603050405020304" pitchFamily="18" charset="0"/>
            </a:endParaRPr>
          </a:p>
          <a:p>
            <a:pPr algn="just">
              <a:lnSpc>
                <a:spcPct val="10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5737B53-07E1-4EA3-B582-186B46074049}"/>
              </a:ext>
            </a:extLst>
          </p:cNvPr>
          <p:cNvSpPr txBox="1"/>
          <p:nvPr/>
        </p:nvSpPr>
        <p:spPr>
          <a:xfrm>
            <a:off x="224117" y="698809"/>
            <a:ext cx="11743765"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223294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464A10F-2BF6-4E6C-A9F2-134B638F0157}"/>
              </a:ext>
            </a:extLst>
          </p:cNvPr>
          <p:cNvSpPr>
            <a:spLocks noGrp="1"/>
          </p:cNvSpPr>
          <p:nvPr>
            <p:ph idx="1"/>
          </p:nvPr>
        </p:nvSpPr>
        <p:spPr>
          <a:xfrm>
            <a:off x="990600" y="1739153"/>
            <a:ext cx="10618694" cy="4572000"/>
          </a:xfrm>
        </p:spPr>
        <p:txBody>
          <a:bodyPr>
            <a:noAutofit/>
          </a:bodyPr>
          <a:lstStyle/>
          <a:p>
            <a:pPr algn="just">
              <a:lnSpc>
                <a:spcPct val="100000"/>
              </a:lnSpc>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[5] V. Rao et al., “Performance evaluation of classification algorithms for health prediction,” Procedia Computer Science, vol. 225, pp. 1456–1465, 2023.</a:t>
            </a:r>
            <a:r>
              <a:rPr lang="en-IN" sz="1800" kern="100" dirty="0">
                <a:latin typeface="Aptos"/>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This paper compares various classification algorithms based on performance metrics like accuracy and recall.</a:t>
            </a:r>
          </a:p>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[6] H. Khan et al., “Predictive analytics in healthcare using supervised learning models,” Journal of Healthcare Engineering, vol. 2023, Article ID 556789, 2023.</a:t>
            </a:r>
            <a:r>
              <a:rPr lang="en-IN" sz="1800"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authors explore supervised learning techniques for healthcare prediction.</a:t>
            </a:r>
            <a:endParaRPr lang="en-IN" sz="1800" kern="100" dirty="0">
              <a:effectLst/>
              <a:latin typeface="Times New Roman" panose="02020603050405020304" pitchFamily="18" charset="0"/>
              <a:ea typeface="Aptos"/>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[7] T. Singh et al., “Machine learning-based health monitoring system using IoT and data analytics,” Sensors, vol. 23, no. 4, 2023.</a:t>
            </a:r>
            <a:r>
              <a:rPr lang="en-IN" sz="1800"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This work presents an IoT-based system that collects real-time health data and uses machine learning for analysis.</a:t>
            </a:r>
            <a:endParaRPr lang="en-IN" sz="1800" kern="100" dirty="0">
              <a:effectLst/>
              <a:latin typeface="Times New Roman" panose="02020603050405020304" pitchFamily="18" charset="0"/>
              <a:ea typeface="Aptos"/>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[8] S. Verma et al., “Random Forest-based health prediction system using clinical data,” Expert Systems with Applic</a:t>
            </a:r>
            <a:r>
              <a:rPr lang="en-IN" sz="1800" i="1" kern="0" dirty="0">
                <a:effectLst/>
                <a:latin typeface="Times New Roman" panose="02020603050405020304" pitchFamily="18" charset="0"/>
                <a:ea typeface="Times New Roman" panose="02020603050405020304" pitchFamily="18" charset="0"/>
                <a:cs typeface="Times New Roman" panose="02020603050405020304" pitchFamily="18" charset="0"/>
              </a:rPr>
              <a:t>ations</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vol. 198, 116789, 2022.</a:t>
            </a:r>
            <a:r>
              <a:rPr lang="en-IN" sz="1800"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study uses the Random Forest algorithm to predict diseases based on clinical datasets.</a:t>
            </a:r>
            <a:endParaRPr lang="en-IN" sz="1800" kern="100" dirty="0">
              <a:effectLst/>
              <a:latin typeface="Times New Roman" panose="02020603050405020304" pitchFamily="18" charset="0"/>
              <a:ea typeface="Aptos"/>
              <a:cs typeface="Times New Roman" panose="02020603050405020304" pitchFamily="18" charset="0"/>
            </a:endParaRPr>
          </a:p>
          <a:p>
            <a:pPr algn="just">
              <a:lnSpc>
                <a:spcPct val="100000"/>
              </a:lnSpc>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8710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802E4-FC85-0CC1-C595-814541988E45}"/>
              </a:ext>
            </a:extLst>
          </p:cNvPr>
          <p:cNvSpPr>
            <a:spLocks noGrp="1"/>
          </p:cNvSpPr>
          <p:nvPr>
            <p:ph type="ctrTitle"/>
          </p:nvPr>
        </p:nvSpPr>
        <p:spPr/>
        <p:txBody>
          <a:bodyPr anchor="ctr">
            <a:normAutofit/>
          </a:bodyPr>
          <a:lstStyle/>
          <a:p>
            <a:r>
              <a:rPr lang="en-US" sz="5400"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202895962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26664</TotalTime>
  <Words>2335</Words>
  <Application>Microsoft Office PowerPoint</Application>
  <PresentationFormat>Widescreen</PresentationFormat>
  <Paragraphs>199</Paragraphs>
  <Slides>40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Arial</vt:lpstr>
      <vt:lpstr>Calibri</vt:lpstr>
      <vt:lpstr>Century Gothic</vt:lpstr>
      <vt:lpstr>Times New Roman</vt:lpstr>
      <vt:lpstr>Wingdings</vt:lpstr>
      <vt:lpstr>Vapor Trail</vt:lpstr>
      <vt:lpstr> </vt:lpstr>
      <vt:lpstr>  CONTENTS</vt:lpstr>
      <vt:lpstr>  Objective</vt:lpstr>
      <vt:lpstr> abstract</vt:lpstr>
      <vt:lpstr>           INTRODUCTION</vt:lpstr>
      <vt:lpstr>          EXISTING SYSTEM</vt:lpstr>
      <vt:lpstr>Disadvantages </vt:lpstr>
      <vt:lpstr>     PROPOSED SYSTEM</vt:lpstr>
      <vt:lpstr> Advantages</vt:lpstr>
      <vt:lpstr>SYSTEM REQUIREMENTS</vt:lpstr>
      <vt:lpstr>PowerPoint Presentation</vt:lpstr>
      <vt:lpstr>ARCHITECTURE</vt:lpstr>
      <vt:lpstr>ALGORITHMS</vt:lpstr>
      <vt:lpstr>PowerPoint Presentation</vt:lpstr>
      <vt:lpstr>PowerPoint Presentation</vt:lpstr>
      <vt:lpstr>MODULES</vt:lpstr>
      <vt:lpstr>PowerPoint Presentation</vt:lpstr>
      <vt:lpstr>PowerPoint Presentation</vt:lpstr>
      <vt:lpstr>UML DIAGRAMS</vt:lpstr>
      <vt:lpstr>PowerPoint Presentation</vt:lpstr>
      <vt:lpstr>Sequence Diagram</vt:lpstr>
      <vt:lpstr>Activity Diagram</vt:lpstr>
      <vt:lpstr>PowerPoint Presentation</vt:lpstr>
      <vt:lpstr>PowerPoint Presentation</vt:lpstr>
      <vt:lpstr>SCREENSHOTS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todd michels</dc:creator>
  <cp:lastModifiedBy>Vijaya Kumar Kosuru</cp:lastModifiedBy>
  <cp:revision>279</cp:revision>
  <dcterms:created xsi:type="dcterms:W3CDTF">2022-12-11T02:03:00Z</dcterms:created>
  <dcterms:modified xsi:type="dcterms:W3CDTF">2026-04-01T03:17:18Z</dcterms:modified>
</cp:coreProperties>
</file>